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2" r:id="rId2"/>
    <p:sldId id="263" r:id="rId3"/>
    <p:sldId id="256" r:id="rId4"/>
    <p:sldId id="257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32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6E55F-2298-44C2-A0D7-358109010C60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57E97-EC72-4493-8451-98DB90CF7D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7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257E97-EC72-4493-8451-98DB90CF7D5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009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13" Type="http://schemas.openxmlformats.org/officeDocument/2006/relationships/image" Target="../media/image17.jpeg"/><Relationship Id="rId18" Type="http://schemas.openxmlformats.org/officeDocument/2006/relationships/image" Target="../media/image22.png"/><Relationship Id="rId26" Type="http://schemas.openxmlformats.org/officeDocument/2006/relationships/image" Target="../media/image30.jpeg"/><Relationship Id="rId3" Type="http://schemas.openxmlformats.org/officeDocument/2006/relationships/image" Target="../media/image7.jpeg"/><Relationship Id="rId21" Type="http://schemas.openxmlformats.org/officeDocument/2006/relationships/image" Target="../media/image25.jpeg"/><Relationship Id="rId7" Type="http://schemas.openxmlformats.org/officeDocument/2006/relationships/image" Target="../media/image11.jpeg"/><Relationship Id="rId12" Type="http://schemas.openxmlformats.org/officeDocument/2006/relationships/image" Target="../media/image16.jpeg"/><Relationship Id="rId17" Type="http://schemas.openxmlformats.org/officeDocument/2006/relationships/image" Target="../media/image21.jpeg"/><Relationship Id="rId25" Type="http://schemas.openxmlformats.org/officeDocument/2006/relationships/image" Target="../media/image29.jpeg"/><Relationship Id="rId2" Type="http://schemas.openxmlformats.org/officeDocument/2006/relationships/image" Target="../media/image6.wmf"/><Relationship Id="rId16" Type="http://schemas.openxmlformats.org/officeDocument/2006/relationships/image" Target="../media/image20.jpeg"/><Relationship Id="rId20" Type="http://schemas.openxmlformats.org/officeDocument/2006/relationships/image" Target="../media/image24.jpe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24" Type="http://schemas.openxmlformats.org/officeDocument/2006/relationships/image" Target="../media/image28.jpeg"/><Relationship Id="rId5" Type="http://schemas.openxmlformats.org/officeDocument/2006/relationships/image" Target="../media/image9.jpeg"/><Relationship Id="rId15" Type="http://schemas.openxmlformats.org/officeDocument/2006/relationships/image" Target="../media/image19.jpeg"/><Relationship Id="rId23" Type="http://schemas.openxmlformats.org/officeDocument/2006/relationships/image" Target="../media/image27.jpeg"/><Relationship Id="rId28" Type="http://schemas.openxmlformats.org/officeDocument/2006/relationships/image" Target="../media/image32.jpeg"/><Relationship Id="rId10" Type="http://schemas.openxmlformats.org/officeDocument/2006/relationships/image" Target="../media/image14.jpeg"/><Relationship Id="rId19" Type="http://schemas.openxmlformats.org/officeDocument/2006/relationships/image" Target="../media/image23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Relationship Id="rId14" Type="http://schemas.openxmlformats.org/officeDocument/2006/relationships/image" Target="../media/image18.jpeg"/><Relationship Id="rId22" Type="http://schemas.openxmlformats.org/officeDocument/2006/relationships/image" Target="../media/image26.jpeg"/><Relationship Id="rId27" Type="http://schemas.openxmlformats.org/officeDocument/2006/relationships/image" Target="../media/image3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504126"/>
            <a:ext cx="4267200" cy="1139826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600" b="1" spc="50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</a:t>
            </a:r>
            <a:r>
              <a:rPr lang="en-US" sz="6600" b="1" spc="50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3A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643952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6000" b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WHAT IS IT? </a:t>
            </a:r>
            <a:endParaRPr lang="en-US" sz="60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3"/>
          <a:stretch/>
        </p:blipFill>
        <p:spPr>
          <a:xfrm>
            <a:off x="3124200" y="32534"/>
            <a:ext cx="2895600" cy="231350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PRONUNCIATION – CONFUSING VOWEL SOUNDS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4"/>
          <p:cNvSpPr txBox="1">
            <a:spLocks noChangeArrowheads="1"/>
          </p:cNvSpPr>
          <p:nvPr/>
        </p:nvSpPr>
        <p:spPr bwMode="auto">
          <a:xfrm>
            <a:off x="0" y="1066800"/>
            <a:ext cx="8993188" cy="3359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	</a:t>
            </a: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ɑ:</a:t>
            </a: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vi-VN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ahoma" panose="020B0604030504040204" pitchFamily="34" charset="0"/>
              </a:rPr>
              <a:t>  </a:t>
            </a:r>
            <a:r>
              <a:rPr kumimoji="0" lang="vi-VN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	</a:t>
            </a:r>
            <a:r>
              <a:rPr kumimoji="0" lang="vi-VN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</a:t>
            </a:r>
            <a:r>
              <a:rPr kumimoji="0" lang="vi-VN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ahoma" panose="020B0604030504040204" pitchFamily="34" charset="0"/>
              </a:rPr>
              <a:t>				</a:t>
            </a: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3: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vi-VN" sz="1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	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bath 					berth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	far 					fir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	ha 					her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	hard 					heard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	heart 					hurt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	pass 					purse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09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CONVERSATION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57200" y="850385"/>
            <a:ext cx="6657975" cy="221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A: Hey, what is it?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B: Oh, it is a PEN.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A: A pen? How do you spell it?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B: P - E - 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A: I see. Thanks a lot!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1" name="Picture 3" descr="Ballpoint-pen-clipart-free-clipart-imag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76186">
            <a:off x="4937297" y="997102"/>
            <a:ext cx="2873259" cy="255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2052" name="Picture 4" descr="Speedmaster_Skywalker_X-3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43789">
            <a:off x="-77716" y="4299316"/>
            <a:ext cx="2984545" cy="1990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2053" name="Picture 5" descr="football-157930_960_72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501942"/>
            <a:ext cx="1585190" cy="1585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2054" name="Picture 6" descr="8444339_fullsize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147609"/>
            <a:ext cx="3799530" cy="2449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435383"/>
              </p:ext>
            </p:extLst>
          </p:nvPr>
        </p:nvGraphicFramePr>
        <p:xfrm>
          <a:off x="457200" y="566577"/>
          <a:ext cx="8305800" cy="6116187"/>
        </p:xfrm>
        <a:graphic>
          <a:graphicData uri="http://schemas.openxmlformats.org/drawingml/2006/table">
            <a:tbl>
              <a:tblPr/>
              <a:tblGrid>
                <a:gridCol w="2147506"/>
                <a:gridCol w="2052764"/>
                <a:gridCol w="1894860"/>
                <a:gridCol w="2210670"/>
              </a:tblGrid>
              <a:tr h="873741">
                <a:tc>
                  <a:txBody>
                    <a:bodyPr/>
                    <a:lstStyle/>
                    <a:p>
                      <a:pPr lvl="0" algn="l"/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PRACTICE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14401" y="644617"/>
            <a:ext cx="7391400" cy="5969118"/>
            <a:chOff x="685801" y="644617"/>
            <a:chExt cx="7391400" cy="5969118"/>
          </a:xfrm>
        </p:grpSpPr>
        <p:grpSp>
          <p:nvGrpSpPr>
            <p:cNvPr id="31" name="Group 30"/>
            <p:cNvGrpSpPr/>
            <p:nvPr/>
          </p:nvGrpSpPr>
          <p:grpSpPr>
            <a:xfrm>
              <a:off x="685801" y="714375"/>
              <a:ext cx="7391400" cy="5899360"/>
              <a:chOff x="685800" y="290592"/>
              <a:chExt cx="7651937" cy="6323143"/>
            </a:xfrm>
          </p:grpSpPr>
          <p:pic>
            <p:nvPicPr>
              <p:cNvPr id="1045" name="Picture 21" descr="DOMES045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6862784" y="1219200"/>
                <a:ext cx="1474953" cy="790575"/>
              </a:xfrm>
              <a:prstGeom prst="rect">
                <a:avLst/>
              </a:prstGeom>
              <a:noFill/>
            </p:spPr>
          </p:pic>
          <p:pic>
            <p:nvPicPr>
              <p:cNvPr id="1028" name="Picture 4" descr="notebook_resize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894077" y="5791200"/>
                <a:ext cx="1257300" cy="790575"/>
              </a:xfrm>
              <a:prstGeom prst="rect">
                <a:avLst/>
              </a:prstGeom>
              <a:noFill/>
            </p:spPr>
          </p:pic>
          <p:pic>
            <p:nvPicPr>
              <p:cNvPr id="1026" name="Picture 2" descr="telephone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4943475" y="5791200"/>
                <a:ext cx="1228725" cy="822535"/>
              </a:xfrm>
              <a:prstGeom prst="rect">
                <a:avLst/>
              </a:prstGeom>
              <a:noFill/>
            </p:spPr>
          </p:pic>
          <p:pic>
            <p:nvPicPr>
              <p:cNvPr id="1052" name="Picture 28" descr="pen3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685800" y="381000"/>
                <a:ext cx="1371600" cy="666750"/>
              </a:xfrm>
              <a:prstGeom prst="rect">
                <a:avLst/>
              </a:prstGeom>
              <a:noFill/>
            </p:spPr>
          </p:pic>
          <p:pic>
            <p:nvPicPr>
              <p:cNvPr id="1050" name="Picture 26" descr="put down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5318312" y="290592"/>
                <a:ext cx="638175" cy="757157"/>
              </a:xfrm>
              <a:prstGeom prst="rect">
                <a:avLst/>
              </a:prstGeom>
              <a:noFill/>
            </p:spPr>
          </p:pic>
          <p:pic>
            <p:nvPicPr>
              <p:cNvPr id="1049" name="Picture 25" descr="tape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7010400" y="304800"/>
                <a:ext cx="1298762" cy="723900"/>
              </a:xfrm>
              <a:prstGeom prst="rect">
                <a:avLst/>
              </a:prstGeom>
              <a:noFill/>
            </p:spPr>
          </p:pic>
          <p:pic>
            <p:nvPicPr>
              <p:cNvPr id="1047" name="Picture 23" descr="computer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3170238" y="1276350"/>
                <a:ext cx="822325" cy="704850"/>
              </a:xfrm>
              <a:prstGeom prst="rect">
                <a:avLst/>
              </a:prstGeom>
              <a:noFill/>
            </p:spPr>
          </p:pic>
          <p:pic>
            <p:nvPicPr>
              <p:cNvPr id="1046" name="Picture 22" descr="clock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333440" y="1219200"/>
                <a:ext cx="670672" cy="723900"/>
              </a:xfrm>
              <a:prstGeom prst="rect">
                <a:avLst/>
              </a:prstGeom>
              <a:noFill/>
            </p:spPr>
          </p:pic>
          <p:pic>
            <p:nvPicPr>
              <p:cNvPr id="1043" name="Picture 19" descr="table2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3005138" y="2133600"/>
                <a:ext cx="1152525" cy="724444"/>
              </a:xfrm>
              <a:prstGeom prst="rect">
                <a:avLst/>
              </a:prstGeom>
              <a:noFill/>
            </p:spPr>
          </p:pic>
          <p:pic>
            <p:nvPicPr>
              <p:cNvPr id="1042" name="Picture 18" descr="watch4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5421475" y="2133600"/>
                <a:ext cx="525487" cy="813254"/>
              </a:xfrm>
              <a:prstGeom prst="rect">
                <a:avLst/>
              </a:prstGeom>
              <a:noFill/>
            </p:spPr>
          </p:pic>
          <p:pic>
            <p:nvPicPr>
              <p:cNvPr id="1041" name="Picture 17" descr="radio_resize"/>
              <p:cNvPicPr>
                <a:picLocks noChangeAspect="1" noChangeArrowheads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7486031" y="2133600"/>
                <a:ext cx="727881" cy="762000"/>
              </a:xfrm>
              <a:prstGeom prst="rect">
                <a:avLst/>
              </a:prstGeom>
              <a:noFill/>
            </p:spPr>
          </p:pic>
          <p:pic>
            <p:nvPicPr>
              <p:cNvPr id="1039" name="Picture 15" descr="chair"/>
              <p:cNvPicPr>
                <a:picLocks noChangeAspect="1" noChangeArrowheads="1"/>
              </p:cNvPicPr>
              <p:nvPr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3276600" y="3086100"/>
                <a:ext cx="609600" cy="723900"/>
              </a:xfrm>
              <a:prstGeom prst="rect">
                <a:avLst/>
              </a:prstGeom>
              <a:noFill/>
            </p:spPr>
          </p:pic>
          <p:pic>
            <p:nvPicPr>
              <p:cNvPr id="1038" name="Picture 14" descr="picture"/>
              <p:cNvPicPr>
                <a:picLocks noChangeAspect="1" noChangeArrowheads="1"/>
              </p:cNvPicPr>
              <p:nvPr/>
            </p:nvPicPr>
            <p:blipFill>
              <a:blip r:embed="rId14" cstate="print"/>
              <a:srcRect l="50000" t="21507" b="8742"/>
              <a:stretch>
                <a:fillRect/>
              </a:stretch>
            </p:blipFill>
            <p:spPr bwMode="auto">
              <a:xfrm>
                <a:off x="5242112" y="3048000"/>
                <a:ext cx="800100" cy="723900"/>
              </a:xfrm>
              <a:prstGeom prst="rect">
                <a:avLst/>
              </a:prstGeom>
              <a:noFill/>
            </p:spPr>
          </p:pic>
          <p:pic>
            <p:nvPicPr>
              <p:cNvPr id="1037" name="Picture 13" descr="television"/>
              <p:cNvPicPr>
                <a:picLocks noChangeAspect="1" noChangeArrowheads="1"/>
              </p:cNvPicPr>
              <p:nvPr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7528112" y="3048000"/>
                <a:ext cx="752475" cy="733425"/>
              </a:xfrm>
              <a:prstGeom prst="rect">
                <a:avLst/>
              </a:prstGeom>
              <a:noFill/>
            </p:spPr>
          </p:pic>
          <p:pic>
            <p:nvPicPr>
              <p:cNvPr id="1035" name="Picture 11" descr="shelf"/>
              <p:cNvPicPr>
                <a:picLocks noChangeAspect="1" noChangeArrowheads="1"/>
              </p:cNvPicPr>
              <p:nvPr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3081339" y="3962400"/>
                <a:ext cx="881062" cy="764107"/>
              </a:xfrm>
              <a:prstGeom prst="rect">
                <a:avLst/>
              </a:prstGeom>
              <a:noFill/>
            </p:spPr>
          </p:pic>
          <p:pic>
            <p:nvPicPr>
              <p:cNvPr id="1034" name="Picture 10" descr="map2"/>
              <p:cNvPicPr>
                <a:picLocks noChangeAspect="1" noChangeArrowheads="1"/>
              </p:cNvPicPr>
              <p:nvPr/>
            </p:nvPicPr>
            <p:blipFill>
              <a:blip r:embed="rId17" cstate="print"/>
              <a:srcRect/>
              <a:stretch>
                <a:fillRect/>
              </a:stretch>
            </p:blipFill>
            <p:spPr bwMode="auto">
              <a:xfrm>
                <a:off x="5257800" y="3984282"/>
                <a:ext cx="755837" cy="806793"/>
              </a:xfrm>
              <a:prstGeom prst="rect">
                <a:avLst/>
              </a:prstGeom>
              <a:noFill/>
            </p:spPr>
          </p:pic>
          <p:pic>
            <p:nvPicPr>
              <p:cNvPr id="1033" name="Picture 9" descr="BULB2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7680512" y="3886200"/>
                <a:ext cx="514350" cy="885825"/>
              </a:xfrm>
              <a:prstGeom prst="rect">
                <a:avLst/>
              </a:prstGeom>
              <a:noFill/>
            </p:spPr>
          </p:pic>
          <p:pic>
            <p:nvPicPr>
              <p:cNvPr id="1032" name="Picture 8" descr="book"/>
              <p:cNvPicPr>
                <a:picLocks noChangeAspect="1" noChangeArrowheads="1"/>
              </p:cNvPicPr>
              <p:nvPr/>
            </p:nvPicPr>
            <p:blipFill>
              <a:blip r:embed="rId19" cstate="print"/>
              <a:srcRect/>
              <a:stretch>
                <a:fillRect/>
              </a:stretch>
            </p:blipFill>
            <p:spPr bwMode="auto">
              <a:xfrm>
                <a:off x="1008377" y="4876800"/>
                <a:ext cx="1028700" cy="819150"/>
              </a:xfrm>
              <a:prstGeom prst="rect">
                <a:avLst/>
              </a:prstGeom>
              <a:noFill/>
            </p:spPr>
          </p:pic>
          <p:pic>
            <p:nvPicPr>
              <p:cNvPr id="1031" name="Picture 7" descr="desk"/>
              <p:cNvPicPr>
                <a:picLocks noChangeAspect="1" noChangeArrowheads="1"/>
              </p:cNvPicPr>
              <p:nvPr/>
            </p:nvPicPr>
            <p:blipFill>
              <a:blip r:embed="rId20" cstate="print"/>
              <a:srcRect/>
              <a:stretch>
                <a:fillRect/>
              </a:stretch>
            </p:blipFill>
            <p:spPr bwMode="auto">
              <a:xfrm>
                <a:off x="3162300" y="4876800"/>
                <a:ext cx="838200" cy="809625"/>
              </a:xfrm>
              <a:prstGeom prst="rect">
                <a:avLst/>
              </a:prstGeom>
              <a:noFill/>
            </p:spPr>
          </p:pic>
          <p:pic>
            <p:nvPicPr>
              <p:cNvPr id="1030" name="Picture 6" descr="VENTILTR_resize"/>
              <p:cNvPicPr>
                <a:picLocks noChangeAspect="1" noChangeArrowheads="1"/>
              </p:cNvPicPr>
              <p:nvPr/>
            </p:nvPicPr>
            <p:blipFill>
              <a:blip r:embed="rId21"/>
              <a:srcRect/>
              <a:stretch>
                <a:fillRect/>
              </a:stretch>
            </p:blipFill>
            <p:spPr bwMode="auto">
              <a:xfrm>
                <a:off x="5165912" y="4876800"/>
                <a:ext cx="809625" cy="830654"/>
              </a:xfrm>
              <a:prstGeom prst="rect">
                <a:avLst/>
              </a:prstGeom>
              <a:noFill/>
            </p:spPr>
          </p:pic>
          <p:pic>
            <p:nvPicPr>
              <p:cNvPr id="1029" name="Picture 5" descr="ball"/>
              <p:cNvPicPr>
                <a:picLocks noChangeAspect="1" noChangeArrowheads="1"/>
              </p:cNvPicPr>
              <p:nvPr/>
            </p:nvPicPr>
            <p:blipFill>
              <a:blip r:embed="rId22" cstate="print"/>
              <a:srcRect/>
              <a:stretch>
                <a:fillRect/>
              </a:stretch>
            </p:blipFill>
            <p:spPr bwMode="auto">
              <a:xfrm>
                <a:off x="7375712" y="4876800"/>
                <a:ext cx="952500" cy="800100"/>
              </a:xfrm>
              <a:prstGeom prst="rect">
                <a:avLst/>
              </a:prstGeom>
              <a:noFill/>
            </p:spPr>
          </p:pic>
          <p:pic>
            <p:nvPicPr>
              <p:cNvPr id="1027" name="Picture 3" descr="board2"/>
              <p:cNvPicPr>
                <a:picLocks noChangeAspect="1" noChangeArrowheads="1"/>
              </p:cNvPicPr>
              <p:nvPr/>
            </p:nvPicPr>
            <p:blipFill>
              <a:blip r:embed="rId23" cstate="print"/>
              <a:srcRect/>
              <a:stretch>
                <a:fillRect/>
              </a:stretch>
            </p:blipFill>
            <p:spPr bwMode="auto">
              <a:xfrm>
                <a:off x="3043238" y="5791200"/>
                <a:ext cx="1076325" cy="771525"/>
              </a:xfrm>
              <a:prstGeom prst="rect">
                <a:avLst/>
              </a:prstGeom>
              <a:noFill/>
            </p:spPr>
          </p:pic>
          <p:pic>
            <p:nvPicPr>
              <p:cNvPr id="1025" name="Picture 1" descr="WALLPPR_resize"/>
              <p:cNvPicPr>
                <a:picLocks noChangeAspect="1" noChangeArrowheads="1"/>
              </p:cNvPicPr>
              <p:nvPr/>
            </p:nvPicPr>
            <p:blipFill>
              <a:blip r:embed="rId24"/>
              <a:srcRect/>
              <a:stretch>
                <a:fillRect/>
              </a:stretch>
            </p:blipFill>
            <p:spPr bwMode="auto">
              <a:xfrm>
                <a:off x="7375712" y="5791200"/>
                <a:ext cx="952500" cy="771525"/>
              </a:xfrm>
              <a:prstGeom prst="rect">
                <a:avLst/>
              </a:prstGeom>
              <a:noFill/>
            </p:spPr>
          </p:pic>
          <p:pic>
            <p:nvPicPr>
              <p:cNvPr id="35" name="Picture 12" descr="010303_0679_0298_vuvv_resize"/>
              <p:cNvPicPr>
                <a:picLocks noChangeAspect="1" noChangeArrowheads="1"/>
              </p:cNvPicPr>
              <p:nvPr/>
            </p:nvPicPr>
            <p:blipFill>
              <a:blip r:embed="rId25"/>
              <a:srcRect/>
              <a:stretch>
                <a:fillRect/>
              </a:stretch>
            </p:blipFill>
            <p:spPr bwMode="auto">
              <a:xfrm>
                <a:off x="1104754" y="4038600"/>
                <a:ext cx="835946" cy="733425"/>
              </a:xfrm>
              <a:prstGeom prst="rect">
                <a:avLst/>
              </a:prstGeom>
              <a:noFill/>
            </p:spPr>
          </p:pic>
          <p:pic>
            <p:nvPicPr>
              <p:cNvPr id="37" name="Picture 24" descr="pencil_resize"/>
              <p:cNvPicPr>
                <a:picLocks noChangeAspect="1" noChangeArrowheads="1"/>
              </p:cNvPicPr>
              <p:nvPr/>
            </p:nvPicPr>
            <p:blipFill>
              <a:blip r:embed="rId26"/>
              <a:srcRect/>
              <a:stretch>
                <a:fillRect/>
              </a:stretch>
            </p:blipFill>
            <p:spPr bwMode="auto">
              <a:xfrm>
                <a:off x="894077" y="1266825"/>
                <a:ext cx="1257300" cy="609600"/>
              </a:xfrm>
              <a:prstGeom prst="rect">
                <a:avLst/>
              </a:prstGeom>
              <a:noFill/>
            </p:spPr>
          </p:pic>
          <p:pic>
            <p:nvPicPr>
              <p:cNvPr id="38" name="Picture 20" descr="marker"/>
              <p:cNvPicPr>
                <a:picLocks noChangeAspect="1" noChangeArrowheads="1"/>
              </p:cNvPicPr>
              <p:nvPr/>
            </p:nvPicPr>
            <p:blipFill>
              <a:blip r:embed="rId27" cstate="print"/>
              <a:srcRect/>
              <a:stretch>
                <a:fillRect/>
              </a:stretch>
            </p:blipFill>
            <p:spPr bwMode="auto">
              <a:xfrm rot="-1860381">
                <a:off x="1052572" y="2233710"/>
                <a:ext cx="940310" cy="522164"/>
              </a:xfrm>
              <a:prstGeom prst="rect">
                <a:avLst/>
              </a:prstGeom>
              <a:noFill/>
            </p:spPr>
          </p:pic>
          <p:pic>
            <p:nvPicPr>
              <p:cNvPr id="39" name="Picture 16" descr="ruler2"/>
              <p:cNvPicPr>
                <a:picLocks noChangeAspect="1" noChangeArrowheads="1"/>
              </p:cNvPicPr>
              <p:nvPr/>
            </p:nvPicPr>
            <p:blipFill>
              <a:blip r:embed="rId28" cstate="print"/>
              <a:srcRect/>
              <a:stretch>
                <a:fillRect/>
              </a:stretch>
            </p:blipFill>
            <p:spPr bwMode="auto">
              <a:xfrm>
                <a:off x="951937" y="3019425"/>
                <a:ext cx="1141581" cy="819150"/>
              </a:xfrm>
              <a:prstGeom prst="rect">
                <a:avLst/>
              </a:prstGeom>
              <a:noFill/>
            </p:spPr>
          </p:pic>
        </p:grp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4804" y="644617"/>
              <a:ext cx="761004" cy="75839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0110"/>
            <a:ext cx="9144000" cy="142869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Noun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(Danh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tư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̀):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tiếng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chỉ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tên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một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người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một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vật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hay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một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đô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̀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vật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b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Example (Ví dụ): a man, a dog, a table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Plural form of a noun 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Sô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́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nhiều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của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danh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tư</a:t>
            </a:r>
            <a:r>
              <a:rPr lang="en-US" sz="1800" dirty="0" smtClean="0">
                <a:ln w="10160">
                  <a:noFill/>
                  <a:prstDash val="solid"/>
                </a:ln>
                <a:latin typeface="Tahoma" pitchFamily="34" charset="0"/>
                <a:ea typeface="Tahoma" pitchFamily="34" charset="0"/>
                <a:cs typeface="Tahoma" pitchFamily="34" charset="0"/>
              </a:rPr>
              <a:t>̀):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 smtClean="0">
              <a:ln w="10160">
                <a:noFill/>
                <a:prstDash val="solid"/>
              </a:ln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GRAMMAR REVIEW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1899309"/>
            <a:ext cx="9144000" cy="4304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15000"/>
              </a:lnSpc>
              <a:buFont typeface="+mj-lt"/>
              <a:buAutoNum type="arabicPeriod"/>
            </a:pP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êm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a book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books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pen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pens</a:t>
            </a:r>
          </a:p>
          <a:p>
            <a:pPr lvl="1">
              <a:lnSpc>
                <a:spcPct val="115000"/>
              </a:lnSpc>
              <a:buFont typeface="+mj-lt"/>
              <a:buAutoNum type="arabicPeriod" startAt="2"/>
            </a:pP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(E)S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đọc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iz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sau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những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tận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cùng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S, X, CE, SE, Z, CH, SH, GE.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box   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boxes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an orange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oranges</a:t>
            </a:r>
          </a:p>
          <a:p>
            <a:pPr lvl="1">
              <a:lnSpc>
                <a:spcPct val="115000"/>
              </a:lnSpc>
              <a:buFont typeface="+mj-lt"/>
              <a:buAutoNum type="arabicPeriod" startAt="3"/>
            </a:pP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Theâm ES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 t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ừ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ận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ùng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ừ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ước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 âm)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tomato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tomatoes</a:t>
            </a:r>
          </a:p>
          <a:p>
            <a:pPr lvl="1"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Nhưng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a radio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radios (vì 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âm I)</a:t>
            </a:r>
          </a:p>
          <a:p>
            <a:pPr lvl="1">
              <a:lnSpc>
                <a:spcPct val="115000"/>
              </a:lnSpc>
              <a:buFont typeface="+mj-lt"/>
              <a:buAutoNum type="arabicPeriod" startAt="4"/>
            </a:pP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IES (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Trừ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trước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âm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vi-VN" sz="1700" b="1" i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city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cities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ưng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a toy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toys (vì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17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rước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 âm O)</a:t>
            </a:r>
          </a:p>
          <a:p>
            <a:pPr lvl="1">
              <a:lnSpc>
                <a:spcPct val="115000"/>
              </a:lnSpc>
              <a:buFont typeface="+mj-lt"/>
              <a:buAutoNum type="arabicPeriod" startAt="5"/>
            </a:pP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</a:t>
            </a:r>
            <a:r>
              <a:rPr lang="en-US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FE 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1700" b="1" i="1" dirty="0" err="1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ành</a:t>
            </a:r>
            <a:r>
              <a:rPr lang="vi-VN" sz="1700" b="1" i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b="1" i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VES </a:t>
            </a:r>
            <a:r>
              <a:rPr lang="vi-VN" sz="17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knife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knives</a:t>
            </a:r>
          </a:p>
          <a:p>
            <a:pPr>
              <a:lnSpc>
                <a:spcPct val="115000"/>
              </a:lnSpc>
            </a:pP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leaf   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vi-VN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1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leaves</a:t>
            </a:r>
            <a:endParaRPr lang="vi-VN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22098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Jack:	Hi. My name is Jack. What’s </a:t>
            </a:r>
            <a:r>
              <a:rPr lang="en-US" sz="18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t>your name?</a:t>
            </a:r>
            <a:r>
              <a:rPr lang="en-US" sz="1800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Kate:	I’m Kate. 		</a:t>
            </a:r>
            <a:r>
              <a:rPr lang="en-US" sz="1800" b="1" i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Jack:	It’s nice to meet you, Kate. </a:t>
            </a:r>
            <a:r>
              <a:rPr lang="en-US" sz="1800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379538" indent="-1366838">
              <a:lnSpc>
                <a:spcPct val="160000"/>
              </a:lnSpc>
              <a:buNone/>
            </a:pP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Kate</a:t>
            </a:r>
            <a:r>
              <a:rPr lang="en-US" sz="1800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	</a:t>
            </a: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Nice to meet you, too. </a:t>
            </a:r>
            <a:r>
              <a:rPr lang="en-US" sz="1800" i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en-US" sz="1800" dirty="0" smtClean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CONVERSATION – NICE TO MEET YOU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3987197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0" y="46482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Chép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tất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phần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vocabulary,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chữ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dòng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vở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B.</a:t>
            </a:r>
            <a:endParaRPr lang="en-US" sz="1800" dirty="0">
              <a:ln w="10541" cmpd="sng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Viết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dòng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ít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1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dòng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nhiều</a:t>
            </a: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1800" dirty="0" smtClean="0">
              <a:ln w="10541" cmpd="sng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762000"/>
            <a:ext cx="2438400" cy="30445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8" grpId="0" animBg="1"/>
      <p:bldP spid="7" grpId="0" animBg="1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150</Words>
  <Application>Microsoft Office PowerPoint</Application>
  <PresentationFormat>On-screen Show (4:3)</PresentationFormat>
  <Paragraphs>71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Tahoma</vt:lpstr>
      <vt:lpstr>Times New Roman</vt:lpstr>
      <vt:lpstr>Verdana</vt:lpstr>
      <vt:lpstr>Wingdings</vt:lpstr>
      <vt:lpstr>Office Theme</vt:lpstr>
      <vt:lpstr>UNIT 3A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VINCENT</cp:lastModifiedBy>
  <cp:revision>127</cp:revision>
  <dcterms:created xsi:type="dcterms:W3CDTF">2008-12-29T06:41:19Z</dcterms:created>
  <dcterms:modified xsi:type="dcterms:W3CDTF">2017-07-08T09:22:18Z</dcterms:modified>
</cp:coreProperties>
</file>