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96" y="-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08380-4F39-4966-B76D-E87F00718925}" type="datetimeFigureOut">
              <a:rPr lang="en-US" smtClean="0"/>
              <a:pPr/>
              <a:t>11/22/2011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C76FA-DF2A-40EB-B85F-DD3BA4E691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492375"/>
            <a:ext cx="8077200" cy="1470025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b="1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KHAI GIẢNG LỚP QR1</a:t>
            </a:r>
            <a:br>
              <a:rPr lang="en-US" b="1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b="1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AMERICAN ACCENT TRAINING</a:t>
            </a:r>
            <a:endParaRPr lang="en-US" b="1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191000"/>
            <a:ext cx="9144000" cy="2209800"/>
          </a:xfrm>
        </p:spPr>
        <p:txBody>
          <a:bodyPr>
            <a:no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6000" b="1" dirty="0" smtClean="0">
                <a:ln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WELCOME TO</a:t>
            </a:r>
          </a:p>
          <a:p>
            <a:r>
              <a:rPr lang="en-US" sz="6000" b="1" dirty="0" smtClean="0">
                <a:ln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NEW YORK SCHOOL</a:t>
            </a:r>
            <a:endParaRPr lang="en-US" sz="6000" b="1" dirty="0">
              <a:ln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802645"/>
              </p:ext>
            </p:extLst>
          </p:nvPr>
        </p:nvGraphicFramePr>
        <p:xfrm>
          <a:off x="723897" y="1447800"/>
          <a:ext cx="769620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  <a:gridCol w="699655"/>
              </a:tblGrid>
              <a:tr h="965200"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A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B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C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D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E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F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G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H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I</a:t>
                      </a:r>
                      <a:endParaRPr lang="en-US" sz="4400" b="1" dirty="0"/>
                    </a:p>
                  </a:txBody>
                  <a:tcPr anchor="ctr"/>
                </a:tc>
              </a:tr>
              <a:tr h="965200"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J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K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L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N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O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P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Q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>
                          <a:solidFill>
                            <a:srgbClr val="002060"/>
                          </a:solidFill>
                        </a:rPr>
                        <a:t>R</a:t>
                      </a:r>
                      <a:endParaRPr lang="en-US" sz="4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965200"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S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T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U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V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W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X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Y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 smtClean="0"/>
                        <a:t>Z</a:t>
                      </a:r>
                      <a:endParaRPr lang="en-US" sz="4400" b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THE ALPHABET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0110"/>
            <a:ext cx="9144000" cy="590490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Vowels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Nguyên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  <a:r>
              <a:rPr lang="en-US" sz="1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	</a:t>
            </a:r>
            <a:endParaRPr lang="en-US" sz="18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00050" lvl="1" indent="0">
              <a:buNone/>
            </a:pP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sz="1800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E, I, O, </a:t>
            </a:r>
            <a:r>
              <a:rPr lang="en-US" sz="1800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U</a:t>
            </a:r>
            <a:endParaRPr lang="vi-VN" sz="1800" dirty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SYLLABLES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1860" y="1295400"/>
            <a:ext cx="3319818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ə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gain, 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cin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e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m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ʌ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  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ve, b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tter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e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 	m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e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t, b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e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æ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c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t, bl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ck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ɒ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l</a:t>
            </a:r>
            <a:r>
              <a:rPr lang="en-US" u="sng" dirty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t,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ss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/>
              <a:t>ɑː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rm, f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ther 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ɪ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  	h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t, 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v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iː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s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ee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ea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ʊ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p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u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t, c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oul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uː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bl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ue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oo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8199" y="1295399"/>
            <a:ext cx="34961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ɔː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c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ll, f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ou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ɜː 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t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ur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n, l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ear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eɪ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s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ay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eigh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aɪ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f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ve, 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eye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ɔɪ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b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oy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j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oi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əʊ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g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h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o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me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aʊ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n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ow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ou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ɪə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ear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h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ere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eə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h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air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air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ʊə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 	s</a:t>
            </a:r>
            <a:r>
              <a:rPr lang="vi-VN" u="sng" dirty="0">
                <a:latin typeface="Tahoma" pitchFamily="34" charset="0"/>
                <a:ea typeface="Tahoma" pitchFamily="34" charset="0"/>
                <a:cs typeface="Tahoma" pitchFamily="34" charset="0"/>
              </a:rPr>
              <a:t>ure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vi-VN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our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ist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2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9338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5949950" algn="l"/>
              </a:tabLst>
            </a:pPr>
            <a:r>
              <a:rPr lang="en-US" sz="1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Consonants</a:t>
            </a:r>
            <a:r>
              <a:rPr 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Phụ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  <a:tabLst>
                <a:tab pos="5949950" algn="l"/>
              </a:tabLst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Lips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phát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̀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môi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</a:t>
            </a:r>
          </a:p>
          <a:p>
            <a:pPr marL="457200" lvl="1" indent="0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(ME),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(BE),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(PE),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(VE),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(FE, GH)	ti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ee, 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ea, li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li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  <a:tabLst>
                <a:tab pos="5949950" algn="l"/>
              </a:tabLst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Throat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phát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tư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̀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cuống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họng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</a:t>
            </a:r>
          </a:p>
          <a:p>
            <a:pPr marL="457200" lvl="1" indent="0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(KE),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	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i, li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do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si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  <a:tabLst>
                <a:tab pos="5949950" algn="l"/>
              </a:tabLst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Behind the teeth 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thanh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lưỡi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để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sau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răng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</a:p>
          <a:p>
            <a:pPr marL="457200" lvl="5" indent="3175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(TE) 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(DE),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(LE),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(NE)	ba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ba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fi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fi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ne</a:t>
            </a:r>
          </a:p>
          <a:p>
            <a:pPr marL="457200" lvl="5" indent="3175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(CE, X, SE</a:t>
            </a:r>
            <a:r>
              <a:rPr lang="en-US" sz="1800" dirty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Z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(ZE, SE), </a:t>
            </a:r>
            <a:r>
              <a:rPr lang="en-US" sz="1800" b="1" dirty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(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ZH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*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J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(GE)	ri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ri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se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wa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wat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ca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ge</a:t>
            </a:r>
          </a:p>
          <a:p>
            <a:pPr marL="742950" lvl="5" indent="-285750">
              <a:lnSpc>
                <a:spcPct val="150000"/>
              </a:lnSpc>
              <a:buFont typeface="Wingdings" pitchFamily="2" charset="2"/>
              <a:buChar char="Ø"/>
              <a:tabLst>
                <a:tab pos="5949950" algn="l"/>
              </a:tabLst>
            </a:pPr>
            <a:r>
              <a:rPr lang="en-US" sz="18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Between the teeth 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thanh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lưỡi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giữa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hai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răng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  <a:endParaRPr lang="en-US" sz="18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57200" lvl="5" indent="3175">
              <a:lnSpc>
                <a:spcPct val="150000"/>
              </a:lnSpc>
              <a:buNone/>
              <a:tabLst>
                <a:tab pos="5949950" algn="l"/>
              </a:tabLst>
            </a:pPr>
            <a:r>
              <a:rPr lang="en-US" sz="1800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TH, THE	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</a:t>
            </a:r>
            <a:r>
              <a:rPr lang="en-US" sz="1800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ba</a:t>
            </a:r>
            <a:r>
              <a:rPr lang="en-US" sz="1800" u="sng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the</a:t>
            </a:r>
            <a:endParaRPr lang="en-US" sz="1800" u="sng" dirty="0">
              <a:ln w="12700">
                <a:noFill/>
                <a:prstDash val="solid"/>
              </a:ln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SYLLABLES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00110"/>
            <a:ext cx="9144000" cy="866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tabLst>
                <a:tab pos="5949950" algn="l"/>
              </a:tabLst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Semi-vowels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Bán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nguyên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âm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</a:t>
            </a:r>
          </a:p>
          <a:p>
            <a:pPr lvl="1">
              <a:lnSpc>
                <a:spcPct val="150000"/>
              </a:lnSpc>
              <a:tabLst>
                <a:tab pos="5949950" algn="l"/>
              </a:tabLst>
            </a:pPr>
            <a:r>
              <a:rPr lang="en-US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  <a:r>
              <a:rPr lang="en-US" b="1" dirty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W, </a:t>
            </a:r>
            <a:r>
              <a:rPr lang="en-US" b="1" dirty="0" smtClean="0">
                <a:ln w="12700">
                  <a:noFill/>
                  <a:prstDash val="solid"/>
                </a:ln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 </a:t>
            </a:r>
            <a:r>
              <a:rPr lang="en-US" b="1" dirty="0" smtClean="0">
                <a:ln w="12700">
                  <a:noFill/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u="sng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</a:t>
            </a:r>
            <a:r>
              <a:rPr lang="en-US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es</a:t>
            </a:r>
            <a:r>
              <a:rPr lang="en-US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u="sng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</a:t>
            </a:r>
            <a:r>
              <a:rPr lang="en-US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e, </a:t>
            </a:r>
            <a:r>
              <a:rPr lang="en-US" u="sng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</a:t>
            </a:r>
            <a:r>
              <a:rPr lang="en-US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ight</a:t>
            </a:r>
            <a:endParaRPr lang="en-US" b="1" dirty="0" smtClean="0">
              <a:ln w="12700">
                <a:noFill/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3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791290"/>
            <a:ext cx="9144000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63550" indent="-463550"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A: 	Hello. How are you?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63550" indent="-463550">
              <a:lnSpc>
                <a:spcPct val="150000"/>
              </a:lnSpc>
            </a:pP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B:	Fine, thank you. And you?</a:t>
            </a:r>
            <a:endParaRPr lang="en-US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63550" indent="-463550"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A: 	I’m fine, thank you.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  <a:p>
            <a:pPr marL="463550" indent="-463550"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 ... … …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63550" indent="-463550">
              <a:lnSpc>
                <a:spcPct val="150000"/>
              </a:lnSpc>
            </a:pP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B:	Goodbye.</a:t>
            </a:r>
            <a:r>
              <a:rPr lang="en-US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  <a:p>
            <a:pPr marL="463550" indent="-463550"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A: 	Goodbye.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  <a:p>
            <a:pPr marL="463550" indent="-463550">
              <a:lnSpc>
                <a:spcPct val="150000"/>
              </a:lnSpc>
            </a:pP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B:	See you later.</a:t>
            </a:r>
            <a:r>
              <a:rPr lang="en-US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  <a:p>
            <a:pPr marL="463550" indent="-463550"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A: 	See you later.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6180161" y="1345288"/>
            <a:ext cx="2952000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NI-Cooper" pitchFamily="2" charset="0"/>
                <a:ea typeface="Times New Roman" pitchFamily="18" charset="0"/>
                <a:cs typeface="Arial" pitchFamily="34" charset="0"/>
              </a:rPr>
              <a:t>Good morning!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NI-Cooper" pitchFamily="2" charset="0"/>
                <a:ea typeface="Times New Roman" pitchFamily="18" charset="0"/>
                <a:cs typeface="Arial" pitchFamily="34" charset="0"/>
              </a:rPr>
              <a:t>Good afternoon!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NI-Cooper" pitchFamily="2" charset="0"/>
                <a:ea typeface="Times New Roman" pitchFamily="18" charset="0"/>
                <a:cs typeface="Arial" pitchFamily="34" charset="0"/>
              </a:rPr>
              <a:t>Good evening!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b="1" dirty="0" smtClean="0">
                <a:latin typeface="VNI-Cooper" pitchFamily="2" charset="0"/>
                <a:ea typeface="Times New Roman" pitchFamily="18" charset="0"/>
                <a:cs typeface="Arial" pitchFamily="34" charset="0"/>
              </a:rPr>
              <a:t>Hi!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NI-Cooper" pitchFamily="2" charset="0"/>
              <a:ea typeface="Times New Roman" pitchFamily="18" charset="0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NI-Cooper" pitchFamily="2" charset="0"/>
                <a:ea typeface="Times New Roman" pitchFamily="18" charset="0"/>
                <a:cs typeface="Arial" pitchFamily="34" charset="0"/>
              </a:rPr>
              <a:t>Bye!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NI-Cooper" pitchFamily="2" charset="0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NI-Cooper" pitchFamily="2" charset="0"/>
                <a:ea typeface="Times New Roman" pitchFamily="18" charset="0"/>
                <a:cs typeface="Times New Roman" pitchFamily="18" charset="0"/>
              </a:rPr>
              <a:t>Good night!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NI-Cooper" pitchFamily="2" charset="0"/>
                <a:cs typeface="Arial" pitchFamily="34" charset="0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CONVERSATION </a:t>
            </a:r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– HOW ARE YOU?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472440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-9099" y="53340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Aptima" pitchFamily="2" charset="0"/>
                <a:ea typeface="Tahoma" pitchFamily="34" charset="0"/>
                <a:cs typeface="Tahoma" pitchFamily="34" charset="0"/>
              </a:rPr>
              <a:t>NO HOMEWORK TODAY</a:t>
            </a:r>
          </a:p>
        </p:txBody>
      </p:sp>
      <p:pic>
        <p:nvPicPr>
          <p:cNvPr id="1026" name="Picture 2" descr="cutcaster-photo-100893374-two-girls-in-a-convers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418918"/>
            <a:ext cx="3078162" cy="221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" grpId="0" animBg="1"/>
      <p:bldP spid="1025" grpId="0" animBg="1"/>
      <p:bldP spid="9" grpId="0" animBg="1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120</Words>
  <Application>Microsoft Office PowerPoint</Application>
  <PresentationFormat>On-screen Show (4:3)</PresentationFormat>
  <Paragraphs>83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KHAI GIẢNG LỚP QR1 AMERICAN ACCENT TRAINING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KHAI GIẢNG LỚP QR1 AMERICAN ACCENT TRAINING</dc:title>
  <dc:creator>Mister Nice Guy</dc:creator>
  <cp:lastModifiedBy>Windows User</cp:lastModifiedBy>
  <cp:revision>129</cp:revision>
  <dcterms:created xsi:type="dcterms:W3CDTF">2009-01-07T10:42:31Z</dcterms:created>
  <dcterms:modified xsi:type="dcterms:W3CDTF">2011-11-22T18:19:35Z</dcterms:modified>
</cp:coreProperties>
</file>