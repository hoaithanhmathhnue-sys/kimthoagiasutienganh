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73" r:id="rId2"/>
    <p:sldId id="274" r:id="rId3"/>
    <p:sldId id="275" r:id="rId4"/>
    <p:sldId id="276" r:id="rId5"/>
    <p:sldId id="277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5" d="100"/>
          <a:sy n="55" d="100"/>
        </p:scale>
        <p:origin x="-965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BFC724-CD6E-474E-9705-BF9A6FD03617}" type="datetimeFigureOut">
              <a:rPr lang="en-US" smtClean="0"/>
              <a:t>7/8/17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8938D8-1D5D-4507-A3EE-B1AE1943D3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402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6E515-DA9D-4FAF-9474-B315305A0500}" type="datetimeFigureOut">
              <a:rPr lang="en-US" smtClean="0"/>
              <a:pPr/>
              <a:t>7/8/17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5A8E3-3114-423E-B205-6AED7932031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3502026"/>
            <a:ext cx="9144000" cy="230832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4800" b="1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PRACTICE</a:t>
            </a:r>
          </a:p>
          <a:p>
            <a:pPr algn="ctr"/>
            <a:r>
              <a:rPr lang="en-US" sz="4800" b="1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DO </a:t>
            </a:r>
            <a:r>
              <a:rPr lang="en-US" sz="4800" b="1" dirty="0" smtClean="0">
                <a:ln>
                  <a:prstDash val="solid"/>
                </a:ln>
                <a:solidFill>
                  <a:srgbClr val="0070C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YOU WANT TO LISTEN TO MUSIC?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57400" y="5943600"/>
            <a:ext cx="533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ln>
                  <a:prstDash val="solid"/>
                </a:ln>
                <a:solidFill>
                  <a:srgbClr val="00B0F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(QUESTION MODEL 1.3)</a:t>
            </a:r>
            <a:endParaRPr lang="en-US" sz="3200" b="1" dirty="0">
              <a:ln>
                <a:prstDash val="solid"/>
              </a:ln>
              <a:solidFill>
                <a:srgbClr val="00B0F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438400" y="2362200"/>
            <a:ext cx="4267200" cy="11398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UNIT </a:t>
            </a:r>
            <a:r>
              <a:rPr lang="en-US" sz="6600" b="1" spc="50" smtClean="0">
                <a:ln w="11430"/>
                <a:solidFill>
                  <a:schemeClr val="accent6">
                    <a:lumMod val="75000"/>
                  </a:schemeClr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6B</a:t>
            </a:r>
            <a:endParaRPr lang="en-US" sz="6600" b="1" spc="50" dirty="0">
              <a:ln w="11430"/>
              <a:solidFill>
                <a:schemeClr val="accent6">
                  <a:lumMod val="75000"/>
                </a:schemeClr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0"/>
            <a:ext cx="289560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875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500"/>
                            </p:stCondLst>
                            <p:childTnLst>
                              <p:par>
                                <p:cTn id="1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4750"/>
                            </p:stCondLst>
                            <p:childTnLst>
                              <p:par>
                                <p:cTn id="22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81200" y="990600"/>
            <a:ext cx="4724400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r>
              <a:rPr lang="en-US" sz="3600" b="1" dirty="0" smtClean="0">
                <a:ln w="11430"/>
                <a:solidFill>
                  <a:srgbClr val="FF0000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QUESTION MODEL 1.3</a:t>
            </a:r>
            <a:endParaRPr lang="en-US" sz="3600" b="1" dirty="0">
              <a:ln w="11430"/>
              <a:solidFill>
                <a:srgbClr val="FF0000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743199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flat" dir="t">
                <a:rot lat="0" lon="0" rev="18900000"/>
              </a:lightRig>
            </a:scene3d>
            <a:sp3d extrusionH="31750" contourW="6350" prstMaterial="powder">
              <a:bevelT w="19050" h="19050" prst="angle"/>
              <a:contourClr>
                <a:schemeClr val="accent3">
                  <a:tint val="100000"/>
                  <a:shade val="100000"/>
                  <a:satMod val="100000"/>
                  <a:hueMod val="100000"/>
                </a:schemeClr>
              </a:contourClr>
            </a:sp3d>
          </a:bodyPr>
          <a:lstStyle/>
          <a:p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DO YOU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	WANT </a:t>
            </a:r>
            <a:r>
              <a:rPr lang="en-US" sz="3200" b="1" dirty="0" smtClean="0">
                <a:ln/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LISTEN TO MUSIC?</a:t>
            </a:r>
          </a:p>
          <a:p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YES, I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		WANT </a:t>
            </a:r>
            <a:r>
              <a:rPr lang="en-US" sz="3200" b="1" dirty="0">
                <a:ln/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LISTEN TO MUSIC.</a:t>
            </a:r>
            <a:endParaRPr lang="en-US" sz="3200" b="1" dirty="0" smtClean="0">
              <a:ln/>
              <a:solidFill>
                <a:srgbClr val="0070C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NO, I 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DON’T 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WANT </a:t>
            </a:r>
            <a:r>
              <a:rPr lang="en-US" sz="3200" b="1" dirty="0" smtClean="0">
                <a:ln/>
                <a:solidFill>
                  <a:srgbClr val="00206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TO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3200" b="1" dirty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LISTEN TO MUSIC</a:t>
            </a:r>
            <a:r>
              <a:rPr lang="en-US" sz="3200" b="1" dirty="0" smtClean="0">
                <a:ln/>
                <a:solidFill>
                  <a:srgbClr val="0070C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MODEL </a:t>
            </a:r>
            <a:r>
              <a:rPr lang="en-US" sz="2000" b="1" i="1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FORMING REVIEW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5335568"/>
            <a:ext cx="9144000" cy="46166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NOTE:	We can replace “want” with “like”, “need”, “have”.</a:t>
            </a:r>
            <a:endParaRPr lang="vi-VN" sz="1600" b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13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 smtClean="0">
                <a:solidFill>
                  <a:srgbClr val="FFFF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t>QUICK REACTION PRACTICE</a:t>
            </a:r>
            <a:endParaRPr lang="vi-VN" sz="2000" b="1" i="1" dirty="0">
              <a:solidFill>
                <a:srgbClr val="FFFF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170074"/>
              </p:ext>
            </p:extLst>
          </p:nvPr>
        </p:nvGraphicFramePr>
        <p:xfrm>
          <a:off x="76200" y="685800"/>
          <a:ext cx="4038601" cy="5616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143000"/>
                <a:gridCol w="2895601"/>
              </a:tblGrid>
              <a:tr h="432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Want to …/ Like to …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listen to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music, the radio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draw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flowers, animals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watch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movie, a play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make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cakes, toys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show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</a:t>
                      </a:r>
                      <a:r>
                        <a:rPr lang="en-US" sz="18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photos, your videos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conduct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music, a class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observe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stars, the moon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bicycle, a car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pass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TOEIC, the TOEFL 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turn on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fan, the light</a:t>
                      </a: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smoke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cigar, a cigarette</a:t>
                      </a: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play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guitar, the piano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5211655"/>
              </p:ext>
            </p:extLst>
          </p:nvPr>
        </p:nvGraphicFramePr>
        <p:xfrm>
          <a:off x="4343400" y="685800"/>
          <a:ext cx="4724400" cy="5616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41342"/>
                <a:gridCol w="3283058"/>
              </a:tblGrid>
              <a:tr h="432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 to … / Need to …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store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meat, rice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submit 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homework, a report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do 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housework, homework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review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vowels, the consonants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lunch, dinner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floor, the fan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wash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windows, the dishes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cat, the dog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put on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scarf, gloves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cover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book, the notebook 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understand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grammar, vocabulary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432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carry</a:t>
                      </a:r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bag, a map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151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0" y="-38472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PAIR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" y="361638"/>
            <a:ext cx="9144000" cy="6463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Do you want to listen to music? 		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A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Do you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like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to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watch TV? 	</a:t>
            </a:r>
          </a:p>
          <a:p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Yes,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I want to listen to music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		</a:t>
            </a:r>
            <a:r>
              <a:rPr lang="en-US" b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B</a:t>
            </a:r>
            <a:r>
              <a:rPr lang="en-US" b="1" dirty="0">
                <a:latin typeface="Tahoma" pitchFamily="34" charset="0"/>
                <a:ea typeface="Tahoma" pitchFamily="34" charset="0"/>
                <a:cs typeface="Tahoma" pitchFamily="34" charset="0"/>
              </a:rPr>
              <a:t>: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No,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I 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don’t like to </a:t>
            </a:r>
            <a:r>
              <a:rPr lang="en-US" dirty="0">
                <a:latin typeface="Tahoma" pitchFamily="34" charset="0"/>
                <a:ea typeface="Tahoma" pitchFamily="34" charset="0"/>
                <a:cs typeface="Tahoma" pitchFamily="34" charset="0"/>
              </a:rPr>
              <a:t>watch TV</a:t>
            </a:r>
            <a:r>
              <a:rPr lang="en-US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611981"/>
              </p:ext>
            </p:extLst>
          </p:nvPr>
        </p:nvGraphicFramePr>
        <p:xfrm>
          <a:off x="228600" y="1171796"/>
          <a:ext cx="4038601" cy="4212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219200"/>
                <a:gridCol w="2819401"/>
              </a:tblGrid>
              <a:tr h="324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Want to …/ Like to …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listen to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music, the radio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draw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flowers, animals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watch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movie, a play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make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cakes, toys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show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your</a:t>
                      </a:r>
                      <a:r>
                        <a:rPr lang="en-US" sz="15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 photos, your videos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conduct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music, a class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observe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stars, the moon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bicycle, a car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pass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TOEIC, the TOEFL 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turn on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fan, the light</a:t>
                      </a: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smoke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cigar, a cigarette</a:t>
                      </a: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play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guitar, the piano</a:t>
                      </a: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512451"/>
              </p:ext>
            </p:extLst>
          </p:nvPr>
        </p:nvGraphicFramePr>
        <p:xfrm>
          <a:off x="4419600" y="1171796"/>
          <a:ext cx="4495800" cy="421200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371600"/>
                <a:gridCol w="3124200"/>
              </a:tblGrid>
              <a:tr h="324000">
                <a:tc gridSpan="2"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Have to … / Need to …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ctr"/>
                      <a:endParaRPr lang="en-US" sz="18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store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meat, rice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submit 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homework, a report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do 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housework, homework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review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vowels, the consonants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lunch, dinner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clean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floor, the fan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wash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windows, the dishes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feed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cat, the dog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put on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scarf, gloves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cover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book, the notebook 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understand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grammar, vocabulary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3240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rgbClr val="0070C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carry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bag, a map</a:t>
                      </a:r>
                      <a:endParaRPr lang="en-US" sz="15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094085"/>
              </p:ext>
            </p:extLst>
          </p:nvPr>
        </p:nvGraphicFramePr>
        <p:xfrm>
          <a:off x="228600" y="5486400"/>
          <a:ext cx="4038600" cy="116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219200"/>
                <a:gridCol w="28194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smoke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cigarette, a cigar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cook</a:t>
                      </a:r>
                      <a:endParaRPr lang="en-US" sz="16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lunch</a:t>
                      </a:r>
                      <a:r>
                        <a:rPr lang="en-US" sz="1600" b="1" i="0" u="none" strike="noStrike" baseline="0" dirty="0" smtClean="0"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, breakfast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put on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hat, a scarf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build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houses, bridges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168803"/>
              </p:ext>
            </p:extLst>
          </p:nvPr>
        </p:nvGraphicFramePr>
        <p:xfrm>
          <a:off x="4419600" y="5486400"/>
          <a:ext cx="4495800" cy="11684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1371600"/>
                <a:gridCol w="3124200"/>
              </a:tblGrid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sign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letter, a contract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catch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a bus, a taxi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unlock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the gate, the suitcase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  <a:tr h="292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 smtClean="0"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serve</a:t>
                      </a:r>
                      <a:endParaRPr lang="en-US" sz="1500" b="1" i="0" u="none" strike="noStrike" dirty="0">
                        <a:solidFill>
                          <a:srgbClr val="FF000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500" b="1" u="none" strike="noStrike" dirty="0">
                          <a:effectLst/>
                          <a:latin typeface="Tahoma" pitchFamily="34" charset="0"/>
                          <a:ea typeface="Tahoma" pitchFamily="34" charset="0"/>
                          <a:cs typeface="Tahoma" pitchFamily="34" charset="0"/>
                        </a:rPr>
                        <a:t>coffee, tea</a:t>
                      </a:r>
                      <a:endParaRPr lang="en-US" sz="1500" b="1" i="0" u="none" strike="noStrike" dirty="0">
                        <a:solidFill>
                          <a:srgbClr val="0070C0"/>
                        </a:solidFill>
                        <a:effectLst/>
                        <a:latin typeface="Tahoma" pitchFamily="34" charset="0"/>
                        <a:ea typeface="Tahoma" pitchFamily="34" charset="0"/>
                        <a:cs typeface="Tahoma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3079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00110"/>
          </a:xfrm>
          <a:prstGeom prst="re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1" u="none" strike="noStrike" cap="none" normalizeH="0" baseline="0" dirty="0" smtClean="0">
                <a:ln>
                  <a:noFill/>
                </a:ln>
                <a:solidFill>
                  <a:srgbClr val="FFFF00"/>
                </a:solidFill>
                <a:effectLst/>
                <a:latin typeface="Tahoma" pitchFamily="34" charset="0"/>
                <a:ea typeface="Tahoma" pitchFamily="34" charset="0"/>
                <a:cs typeface="Tahoma" pitchFamily="34" charset="0"/>
              </a:rPr>
              <a:t>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homa" pitchFamily="34" charset="0"/>
                <a:ea typeface="Tahoma" pitchFamily="34" charset="0"/>
                <a:cs typeface="Tahoma" pitchFamily="34" charset="0"/>
              </a:rPr>
              <a:t>Write 20 questions and answers using Question Model 1.3</a:t>
            </a:r>
            <a:endParaRPr lang="vi-VN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102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384</Words>
  <Application>Microsoft Office PowerPoint</Application>
  <PresentationFormat>On-screen Show (4:3)</PresentationFormat>
  <Paragraphs>132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Grizli777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HH Tran</dc:creator>
  <cp:lastModifiedBy>TuanTran-PC</cp:lastModifiedBy>
  <cp:revision>110</cp:revision>
  <dcterms:created xsi:type="dcterms:W3CDTF">2008-12-29T12:42:37Z</dcterms:created>
  <dcterms:modified xsi:type="dcterms:W3CDTF">2017-07-08T10:13:07Z</dcterms:modified>
</cp:coreProperties>
</file>