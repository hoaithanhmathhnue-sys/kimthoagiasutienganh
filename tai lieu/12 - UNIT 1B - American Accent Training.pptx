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8" r:id="rId4"/>
    <p:sldId id="262" r:id="rId5"/>
    <p:sldId id="264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-965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8380-4F39-4966-B76D-E87F00718925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C76FA-DF2A-40EB-B85F-DD3BA4E691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8380-4F39-4966-B76D-E87F00718925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C76FA-DF2A-40EB-B85F-DD3BA4E691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8380-4F39-4966-B76D-E87F00718925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C76FA-DF2A-40EB-B85F-DD3BA4E691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8380-4F39-4966-B76D-E87F00718925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C76FA-DF2A-40EB-B85F-DD3BA4E691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8380-4F39-4966-B76D-E87F00718925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C76FA-DF2A-40EB-B85F-DD3BA4E691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8380-4F39-4966-B76D-E87F00718925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C76FA-DF2A-40EB-B85F-DD3BA4E691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8380-4F39-4966-B76D-E87F00718925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C76FA-DF2A-40EB-B85F-DD3BA4E691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8380-4F39-4966-B76D-E87F00718925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C76FA-DF2A-40EB-B85F-DD3BA4E691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8380-4F39-4966-B76D-E87F00718925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C76FA-DF2A-40EB-B85F-DD3BA4E691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8380-4F39-4966-B76D-E87F00718925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C76FA-DF2A-40EB-B85F-DD3BA4E691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8380-4F39-4966-B76D-E87F00718925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C76FA-DF2A-40EB-B85F-DD3BA4E691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E08380-4F39-4966-B76D-E87F00718925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3C76FA-DF2A-40EB-B85F-DD3BA4E6917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2492375"/>
            <a:ext cx="8077200" cy="1470025"/>
          </a:xfrm>
        </p:spPr>
        <p:txBody>
          <a:bodyPr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n-US" sz="6600" b="1" dirty="0" smtClean="0">
                <a:ln w="11430"/>
                <a:solidFill>
                  <a:schemeClr val="accent6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UNIT 1B</a:t>
            </a:r>
            <a:endParaRPr lang="en-US" sz="6600" b="1" dirty="0">
              <a:ln w="11430"/>
              <a:solidFill>
                <a:schemeClr val="accent6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4191000"/>
            <a:ext cx="9144000" cy="2209800"/>
          </a:xfrm>
        </p:spPr>
        <p:txBody>
          <a:bodyPr>
            <a:no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r>
              <a:rPr lang="en-US" sz="6000" b="1" dirty="0" smtClean="0">
                <a:ln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AMERICAN ACCENT TRAINING</a:t>
            </a:r>
            <a:endParaRPr lang="en-US" sz="6000" b="1" dirty="0">
              <a:ln/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0"/>
            <a:ext cx="2895600" cy="2316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4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7663499"/>
              </p:ext>
            </p:extLst>
          </p:nvPr>
        </p:nvGraphicFramePr>
        <p:xfrm>
          <a:off x="723897" y="1447800"/>
          <a:ext cx="7696205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9655"/>
                <a:gridCol w="699655"/>
                <a:gridCol w="699655"/>
                <a:gridCol w="699655"/>
                <a:gridCol w="699655"/>
                <a:gridCol w="699655"/>
                <a:gridCol w="699655"/>
                <a:gridCol w="699655"/>
                <a:gridCol w="699655"/>
                <a:gridCol w="699655"/>
                <a:gridCol w="699655"/>
              </a:tblGrid>
              <a:tr h="965200"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/>
                        <a:t>A</a:t>
                      </a:r>
                      <a:endParaRPr lang="en-US" sz="4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/>
                        <a:t>B</a:t>
                      </a:r>
                      <a:endParaRPr lang="en-US" sz="4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/>
                        <a:t>C</a:t>
                      </a:r>
                      <a:endParaRPr lang="en-US" sz="4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4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/>
                        <a:t>D</a:t>
                      </a:r>
                      <a:endParaRPr lang="en-US" sz="4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/>
                        <a:t>E</a:t>
                      </a:r>
                      <a:endParaRPr lang="en-US" sz="4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/>
                        <a:t>F</a:t>
                      </a:r>
                      <a:endParaRPr lang="en-US" sz="4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4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/>
                        <a:t>G</a:t>
                      </a:r>
                      <a:endParaRPr lang="en-US" sz="4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/>
                        <a:t>H</a:t>
                      </a:r>
                      <a:endParaRPr lang="en-US" sz="4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/>
                        <a:t>I</a:t>
                      </a:r>
                      <a:endParaRPr lang="en-US" sz="4400" b="1" dirty="0"/>
                    </a:p>
                  </a:txBody>
                  <a:tcPr anchor="ctr"/>
                </a:tc>
              </a:tr>
              <a:tr h="965200"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>
                          <a:solidFill>
                            <a:srgbClr val="002060"/>
                          </a:solidFill>
                        </a:rPr>
                        <a:t>J</a:t>
                      </a:r>
                      <a:endParaRPr lang="en-US" sz="4400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>
                          <a:solidFill>
                            <a:srgbClr val="002060"/>
                          </a:solidFill>
                        </a:rPr>
                        <a:t>K</a:t>
                      </a:r>
                      <a:endParaRPr lang="en-US" sz="4400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>
                          <a:solidFill>
                            <a:srgbClr val="002060"/>
                          </a:solidFill>
                        </a:rPr>
                        <a:t>L</a:t>
                      </a:r>
                      <a:endParaRPr lang="en-US" sz="4400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4400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>
                          <a:solidFill>
                            <a:srgbClr val="002060"/>
                          </a:solidFill>
                        </a:rPr>
                        <a:t>M</a:t>
                      </a:r>
                      <a:endParaRPr lang="en-US" sz="4400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>
                          <a:solidFill>
                            <a:srgbClr val="002060"/>
                          </a:solidFill>
                        </a:rPr>
                        <a:t>N</a:t>
                      </a:r>
                      <a:endParaRPr lang="en-US" sz="4400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>
                          <a:solidFill>
                            <a:srgbClr val="002060"/>
                          </a:solidFill>
                        </a:rPr>
                        <a:t>O</a:t>
                      </a:r>
                      <a:endParaRPr lang="en-US" sz="4400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4400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>
                          <a:solidFill>
                            <a:srgbClr val="002060"/>
                          </a:solidFill>
                        </a:rPr>
                        <a:t>P</a:t>
                      </a:r>
                      <a:endParaRPr lang="en-US" sz="4400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>
                          <a:solidFill>
                            <a:srgbClr val="002060"/>
                          </a:solidFill>
                        </a:rPr>
                        <a:t>Q</a:t>
                      </a:r>
                      <a:endParaRPr lang="en-US" sz="4400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>
                          <a:solidFill>
                            <a:srgbClr val="002060"/>
                          </a:solidFill>
                        </a:rPr>
                        <a:t>R</a:t>
                      </a:r>
                      <a:endParaRPr lang="en-US" sz="4400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</a:tr>
              <a:tr h="965200"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/>
                        <a:t>S</a:t>
                      </a:r>
                      <a:endParaRPr lang="en-US" sz="4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/>
                        <a:t>T</a:t>
                      </a:r>
                      <a:endParaRPr lang="en-US" sz="4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/>
                        <a:t>U</a:t>
                      </a:r>
                      <a:endParaRPr lang="en-US" sz="4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4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/>
                        <a:t>V</a:t>
                      </a:r>
                      <a:endParaRPr lang="en-US" sz="4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/>
                        <a:t>W</a:t>
                      </a:r>
                      <a:endParaRPr lang="en-US" sz="4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4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4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/>
                        <a:t>X</a:t>
                      </a:r>
                      <a:endParaRPr lang="en-US" sz="4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/>
                        <a:t>Y</a:t>
                      </a:r>
                      <a:endParaRPr lang="en-US" sz="4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/>
                        <a:t>Z</a:t>
                      </a:r>
                      <a:endParaRPr lang="en-US" sz="4400" b="1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THE ALPHABET: REVIEW 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4636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0110"/>
            <a:ext cx="9144000" cy="590490"/>
          </a:xfrm>
        </p:spPr>
        <p:txBody>
          <a:bodyPr>
            <a:noAutofit/>
          </a:bodyPr>
          <a:lstStyle/>
          <a:p>
            <a:r>
              <a:rPr 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Vowels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(</a:t>
            </a:r>
            <a:r>
              <a:rPr lang="en-US" sz="1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Nguyên</a:t>
            </a: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âm</a:t>
            </a: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):</a:t>
            </a:r>
            <a:r>
              <a:rPr lang="en-US" sz="1800" b="1" dirty="0">
                <a:latin typeface="Tahoma" pitchFamily="34" charset="0"/>
                <a:ea typeface="Tahoma" pitchFamily="34" charset="0"/>
                <a:cs typeface="Tahoma" pitchFamily="34" charset="0"/>
              </a:rPr>
              <a:t> 	</a:t>
            </a:r>
            <a:endParaRPr lang="en-US" sz="1800" b="1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400050" lvl="1" indent="0">
              <a:buNone/>
            </a:pPr>
            <a:r>
              <a:rPr lang="en-US" sz="1800" b="1" dirty="0" smtClean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A</a:t>
            </a:r>
            <a:r>
              <a:rPr lang="en-US" sz="1800" b="1" dirty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E, I, O, </a:t>
            </a:r>
            <a:r>
              <a:rPr lang="en-US" sz="1800" b="1" dirty="0" smtClean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U</a:t>
            </a:r>
            <a:endParaRPr lang="vi-VN" sz="1800" dirty="0">
              <a:solidFill>
                <a:srgbClr val="0070C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SYLLABLES 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21860" y="1295400"/>
            <a:ext cx="3319818" cy="42473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b="1" dirty="0">
                <a:latin typeface="Tahoma" pitchFamily="34" charset="0"/>
                <a:ea typeface="Tahoma" pitchFamily="34" charset="0"/>
                <a:cs typeface="Tahoma" pitchFamily="34" charset="0"/>
              </a:rPr>
              <a:t>ə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  	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b</a:t>
            </a:r>
            <a:r>
              <a:rPr lang="en-US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nan</a:t>
            </a:r>
            <a:r>
              <a:rPr lang="en-US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, sof</a:t>
            </a:r>
            <a:r>
              <a:rPr lang="en-US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</a:t>
            </a:r>
            <a:endParaRPr lang="vi-VN" u="sng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vi-VN" b="1" dirty="0">
                <a:latin typeface="Tahoma" pitchFamily="34" charset="0"/>
                <a:ea typeface="Tahoma" pitchFamily="34" charset="0"/>
                <a:cs typeface="Tahoma" pitchFamily="34" charset="0"/>
              </a:rPr>
              <a:t>ʌ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   	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c</a:t>
            </a:r>
            <a:r>
              <a:rPr lang="en-US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u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t, h</a:t>
            </a:r>
            <a:r>
              <a:rPr lang="en-US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u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g</a:t>
            </a:r>
            <a:endParaRPr lang="vi-VN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vi-VN" b="1" dirty="0">
                <a:latin typeface="Tahoma" pitchFamily="34" charset="0"/>
                <a:ea typeface="Tahoma" pitchFamily="34" charset="0"/>
                <a:cs typeface="Tahoma" pitchFamily="34" charset="0"/>
              </a:rPr>
              <a:t>e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  	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p</a:t>
            </a:r>
            <a:r>
              <a:rPr lang="en-US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e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n</a:t>
            </a: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br</a:t>
            </a:r>
            <a:r>
              <a:rPr lang="en-US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ea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kfast</a:t>
            </a:r>
            <a:endParaRPr lang="vi-VN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vi-VN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æ</a:t>
            </a: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p</a:t>
            </a:r>
            <a:r>
              <a:rPr lang="en-US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n</a:t>
            </a: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m</a:t>
            </a:r>
            <a:r>
              <a:rPr lang="en-US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p</a:t>
            </a:r>
            <a:endParaRPr lang="vi-VN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vi-VN" b="1" dirty="0">
                <a:latin typeface="Tahoma" pitchFamily="34" charset="0"/>
                <a:ea typeface="Tahoma" pitchFamily="34" charset="0"/>
                <a:cs typeface="Tahoma" pitchFamily="34" charset="0"/>
              </a:rPr>
              <a:t>ɒ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l</a:t>
            </a:r>
            <a:r>
              <a:rPr lang="en-US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o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ck, b</a:t>
            </a:r>
            <a:r>
              <a:rPr lang="en-US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o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x</a:t>
            </a:r>
            <a:endParaRPr lang="vi-VN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vi-VN" b="1" dirty="0"/>
              <a:t>ɑː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b</a:t>
            </a:r>
            <a:r>
              <a:rPr lang="en-US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r</a:t>
            </a: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g</a:t>
            </a:r>
            <a:r>
              <a:rPr lang="en-US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ua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rd</a:t>
            </a: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endParaRPr lang="vi-VN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vi-VN" b="1" dirty="0">
                <a:latin typeface="Tahoma" pitchFamily="34" charset="0"/>
                <a:ea typeface="Tahoma" pitchFamily="34" charset="0"/>
                <a:cs typeface="Tahoma" pitchFamily="34" charset="0"/>
              </a:rPr>
              <a:t>ɪ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   	</a:t>
            </a:r>
            <a:r>
              <a:rPr lang="vi-VN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i</a:t>
            </a: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t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s</a:t>
            </a:r>
            <a:r>
              <a:rPr lang="en-US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i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x</a:t>
            </a:r>
            <a:endParaRPr lang="vi-VN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vi-VN" b="1" dirty="0">
                <a:latin typeface="Tahoma" pitchFamily="34" charset="0"/>
                <a:ea typeface="Tahoma" pitchFamily="34" charset="0"/>
                <a:cs typeface="Tahoma" pitchFamily="34" charset="0"/>
              </a:rPr>
              <a:t>iː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p</a:t>
            </a:r>
            <a:r>
              <a:rPr lang="en-US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ee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l</a:t>
            </a: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m</a:t>
            </a:r>
            <a:r>
              <a:rPr lang="vi-VN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ea</a:t>
            </a: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t</a:t>
            </a:r>
            <a:endParaRPr lang="vi-VN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vi-VN" b="1" dirty="0">
                <a:latin typeface="Tahoma" pitchFamily="34" charset="0"/>
                <a:ea typeface="Tahoma" pitchFamily="34" charset="0"/>
                <a:cs typeface="Tahoma" pitchFamily="34" charset="0"/>
              </a:rPr>
              <a:t>ʊ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 	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c</a:t>
            </a:r>
            <a:r>
              <a:rPr lang="en-US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oo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k</a:t>
            </a: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p</a:t>
            </a:r>
            <a:r>
              <a:rPr lang="en-US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u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ll</a:t>
            </a:r>
            <a:endParaRPr lang="vi-VN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vi-VN" b="1" dirty="0">
                <a:latin typeface="Tahoma" pitchFamily="34" charset="0"/>
                <a:ea typeface="Tahoma" pitchFamily="34" charset="0"/>
                <a:cs typeface="Tahoma" pitchFamily="34" charset="0"/>
              </a:rPr>
              <a:t>uː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 	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y</a:t>
            </a:r>
            <a:r>
              <a:rPr lang="en-US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ou</a:t>
            </a: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d</a:t>
            </a:r>
            <a:r>
              <a:rPr lang="en-US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o</a:t>
            </a:r>
            <a:endParaRPr lang="vi-VN" u="sng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48199" y="1295399"/>
            <a:ext cx="349610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b="1" dirty="0"/>
              <a:t>ɔː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b</a:t>
            </a:r>
            <a:r>
              <a:rPr lang="en-US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ll</a:t>
            </a: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m</a:t>
            </a:r>
            <a:r>
              <a:rPr lang="en-US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o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rning</a:t>
            </a:r>
            <a:endParaRPr lang="vi-VN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vi-VN" b="1" dirty="0">
                <a:latin typeface="Tahoma" pitchFamily="34" charset="0"/>
                <a:ea typeface="Tahoma" pitchFamily="34" charset="0"/>
                <a:cs typeface="Tahoma" pitchFamily="34" charset="0"/>
              </a:rPr>
              <a:t>ɜː 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 	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g</a:t>
            </a:r>
            <a:r>
              <a:rPr lang="en-US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i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rl</a:t>
            </a: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w</a:t>
            </a:r>
            <a:r>
              <a:rPr lang="en-US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o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rk</a:t>
            </a:r>
            <a:endParaRPr lang="vi-VN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vi-VN" b="1" dirty="0">
                <a:latin typeface="Tahoma" pitchFamily="34" charset="0"/>
                <a:ea typeface="Tahoma" pitchFamily="34" charset="0"/>
                <a:cs typeface="Tahoma" pitchFamily="34" charset="0"/>
              </a:rPr>
              <a:t>eɪ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 	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h</a:t>
            </a:r>
            <a:r>
              <a:rPr lang="en-US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te</a:t>
            </a: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th</a:t>
            </a:r>
            <a:r>
              <a:rPr lang="en-US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e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y</a:t>
            </a:r>
            <a:endParaRPr lang="vi-VN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vi-VN" b="1" dirty="0">
                <a:latin typeface="Tahoma" pitchFamily="34" charset="0"/>
                <a:ea typeface="Tahoma" pitchFamily="34" charset="0"/>
                <a:cs typeface="Tahoma" pitchFamily="34" charset="0"/>
              </a:rPr>
              <a:t>aɪ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r</a:t>
            </a:r>
            <a:r>
              <a:rPr lang="en-US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i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ce</a:t>
            </a: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ch</a:t>
            </a:r>
            <a:r>
              <a:rPr lang="en-US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i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ld</a:t>
            </a:r>
            <a:endParaRPr lang="vi-VN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vi-VN" b="1" dirty="0">
                <a:latin typeface="Tahoma" pitchFamily="34" charset="0"/>
                <a:ea typeface="Tahoma" pitchFamily="34" charset="0"/>
                <a:cs typeface="Tahoma" pitchFamily="34" charset="0"/>
              </a:rPr>
              <a:t>ɔɪ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t</a:t>
            </a:r>
            <a:r>
              <a:rPr lang="vi-VN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oy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enj</a:t>
            </a:r>
            <a:r>
              <a:rPr lang="en-US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oy</a:t>
            </a:r>
            <a:endParaRPr lang="vi-VN" u="sng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vi-VN" b="1" dirty="0">
                <a:latin typeface="Tahoma" pitchFamily="34" charset="0"/>
                <a:ea typeface="Tahoma" pitchFamily="34" charset="0"/>
                <a:cs typeface="Tahoma" pitchFamily="34" charset="0"/>
              </a:rPr>
              <a:t>əʊ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 	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c</a:t>
            </a:r>
            <a:r>
              <a:rPr lang="en-US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o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mb</a:t>
            </a: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b</a:t>
            </a:r>
            <a:r>
              <a:rPr lang="en-US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ow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l</a:t>
            </a:r>
            <a:endParaRPr lang="vi-VN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vi-VN" b="1" dirty="0">
                <a:latin typeface="Tahoma" pitchFamily="34" charset="0"/>
                <a:ea typeface="Tahoma" pitchFamily="34" charset="0"/>
                <a:cs typeface="Tahoma" pitchFamily="34" charset="0"/>
              </a:rPr>
              <a:t>aʊ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ab</a:t>
            </a:r>
            <a:r>
              <a:rPr lang="en-US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out</a:t>
            </a: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s</a:t>
            </a:r>
            <a:r>
              <a:rPr lang="en-US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ou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nd</a:t>
            </a:r>
            <a:endParaRPr lang="vi-VN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vi-VN" b="1" dirty="0">
                <a:latin typeface="Tahoma" pitchFamily="34" charset="0"/>
                <a:ea typeface="Tahoma" pitchFamily="34" charset="0"/>
                <a:cs typeface="Tahoma" pitchFamily="34" charset="0"/>
              </a:rPr>
              <a:t>ɪə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b</a:t>
            </a:r>
            <a:r>
              <a:rPr lang="en-US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eer</a:t>
            </a: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d</a:t>
            </a:r>
            <a:r>
              <a:rPr lang="en-US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eer</a:t>
            </a:r>
            <a:endParaRPr lang="vi-VN" u="sng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vi-VN" b="1" dirty="0">
                <a:latin typeface="Tahoma" pitchFamily="34" charset="0"/>
                <a:ea typeface="Tahoma" pitchFamily="34" charset="0"/>
                <a:cs typeface="Tahoma" pitchFamily="34" charset="0"/>
              </a:rPr>
              <a:t>eə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c</a:t>
            </a: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h</a:t>
            </a:r>
            <a:r>
              <a:rPr lang="vi-VN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air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th</a:t>
            </a:r>
            <a:r>
              <a:rPr lang="en-US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eir </a:t>
            </a:r>
            <a:endParaRPr lang="vi-VN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vi-VN" b="1" dirty="0">
                <a:latin typeface="Tahoma" pitchFamily="34" charset="0"/>
                <a:ea typeface="Tahoma" pitchFamily="34" charset="0"/>
                <a:cs typeface="Tahoma" pitchFamily="34" charset="0"/>
              </a:rPr>
              <a:t>ʊə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 	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p</a:t>
            </a:r>
            <a:r>
              <a:rPr lang="en-US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oor</a:t>
            </a: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, t</a:t>
            </a:r>
            <a:r>
              <a:rPr lang="vi-VN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our</a:t>
            </a:r>
            <a:endParaRPr lang="vi-VN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2" grpId="0" animBg="1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95400"/>
            <a:ext cx="9144000" cy="493389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tabLst>
                <a:tab pos="5949950" algn="l"/>
              </a:tabLst>
            </a:pPr>
            <a:r>
              <a:rPr lang="en-US" sz="1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Consonants</a:t>
            </a:r>
            <a:r>
              <a:rPr lang="en-US" sz="1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(</a:t>
            </a:r>
            <a:r>
              <a:rPr lang="en-US" sz="18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Phụ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âm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):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  <a:tabLst>
                <a:tab pos="5949950" algn="l"/>
              </a:tabLst>
            </a:pPr>
            <a:r>
              <a:rPr lang="en-US" sz="18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Lips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(</a:t>
            </a:r>
            <a:r>
              <a:rPr lang="en-US" sz="18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Âm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phát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ra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tư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̀ </a:t>
            </a:r>
            <a:r>
              <a:rPr lang="en-US" sz="18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môi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): </a:t>
            </a:r>
          </a:p>
          <a:p>
            <a:pPr marL="457200" lvl="1" indent="0">
              <a:lnSpc>
                <a:spcPct val="150000"/>
              </a:lnSpc>
              <a:buNone/>
              <a:tabLst>
                <a:tab pos="5949950" algn="l"/>
              </a:tabLst>
            </a:pPr>
            <a:r>
              <a:rPr lang="en-US" sz="1800" b="1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(ME), </a:t>
            </a:r>
            <a:r>
              <a:rPr lang="en-US" sz="1800" b="1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(BE), </a:t>
            </a:r>
            <a:r>
              <a:rPr lang="en-US" sz="1800" b="1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P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(PE), </a:t>
            </a:r>
            <a:r>
              <a:rPr lang="en-US" sz="1800" b="1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V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(VE), </a:t>
            </a:r>
            <a:r>
              <a:rPr lang="en-US" sz="1800" b="1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F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(FE, GH)	co</a:t>
            </a:r>
            <a:r>
              <a:rPr lang="en-US" sz="1800" u="sng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mb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sz="1800" u="sng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uild, </a:t>
            </a:r>
            <a:r>
              <a:rPr lang="en-US" sz="1800" u="sng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p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en, gi</a:t>
            </a:r>
            <a:r>
              <a:rPr lang="en-US" sz="1800" u="sng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ve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sa</a:t>
            </a:r>
            <a:r>
              <a:rPr lang="en-US" sz="1800" u="sng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fe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  <a:tabLst>
                <a:tab pos="5949950" algn="l"/>
              </a:tabLst>
            </a:pPr>
            <a:r>
              <a:rPr lang="en-US" sz="18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Throat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(</a:t>
            </a:r>
            <a:r>
              <a:rPr lang="en-US" sz="18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Âm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phát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ra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tư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̀ </a:t>
            </a:r>
            <a:r>
              <a:rPr lang="en-US" sz="18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cuống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họng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): </a:t>
            </a:r>
          </a:p>
          <a:p>
            <a:pPr marL="457200" lvl="1" indent="0">
              <a:lnSpc>
                <a:spcPct val="150000"/>
              </a:lnSpc>
              <a:buNone/>
              <a:tabLst>
                <a:tab pos="5949950" algn="l"/>
              </a:tabLst>
            </a:pPr>
            <a:r>
              <a:rPr lang="en-US" sz="1800" b="1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H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sz="1800" b="1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K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(KE), </a:t>
            </a:r>
            <a:r>
              <a:rPr lang="en-US" sz="1800" b="1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sz="1800" b="1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NG	</a:t>
            </a:r>
            <a:r>
              <a:rPr lang="en-US" sz="1800" u="sng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h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it, pi</a:t>
            </a:r>
            <a:r>
              <a:rPr lang="en-US" sz="1800" u="sng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ke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hu</a:t>
            </a:r>
            <a:r>
              <a:rPr lang="en-US" sz="1800" u="sng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ha</a:t>
            </a:r>
            <a:r>
              <a:rPr lang="en-US" sz="1800" u="sng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ng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  <a:tabLst>
                <a:tab pos="5949950" algn="l"/>
              </a:tabLst>
            </a:pPr>
            <a:r>
              <a:rPr lang="en-US" sz="18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Behind the teeth 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(</a:t>
            </a:r>
            <a:r>
              <a:rPr lang="en-US" sz="18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Âm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thanh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lưỡi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để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sau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răng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):</a:t>
            </a:r>
          </a:p>
          <a:p>
            <a:pPr marL="457200" lvl="5" indent="3175">
              <a:lnSpc>
                <a:spcPct val="150000"/>
              </a:lnSpc>
              <a:buNone/>
              <a:tabLst>
                <a:tab pos="5949950" algn="l"/>
              </a:tabLst>
            </a:pPr>
            <a:r>
              <a:rPr lang="en-US" sz="1800" b="1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(TE) , </a:t>
            </a:r>
            <a:r>
              <a:rPr lang="en-US" sz="1800" b="1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(DE), </a:t>
            </a:r>
            <a:r>
              <a:rPr lang="en-US" sz="1800" b="1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L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(LE), </a:t>
            </a:r>
            <a:r>
              <a:rPr lang="en-US" sz="1800" b="1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N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(NE)	cu</a:t>
            </a:r>
            <a:r>
              <a:rPr lang="en-US" sz="1800" u="sng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sa</a:t>
            </a:r>
            <a:r>
              <a:rPr lang="en-US" sz="1800" u="sng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mobi</a:t>
            </a:r>
            <a:r>
              <a:rPr lang="en-US" sz="1800" u="sng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le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di</a:t>
            </a:r>
            <a:r>
              <a:rPr lang="en-US" sz="1800" u="sng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ne</a:t>
            </a:r>
          </a:p>
          <a:p>
            <a:pPr marL="457200" lvl="5" indent="3175">
              <a:lnSpc>
                <a:spcPct val="150000"/>
              </a:lnSpc>
              <a:buNone/>
              <a:tabLst>
                <a:tab pos="5949950" algn="l"/>
              </a:tabLst>
            </a:pPr>
            <a:r>
              <a:rPr lang="en-US" sz="1800" b="1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S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(CE, X, SE</a:t>
            </a:r>
            <a:r>
              <a:rPr lang="en-US" sz="1800" dirty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), </a:t>
            </a:r>
            <a:r>
              <a:rPr lang="en-US" sz="1800" b="1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Z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(ZE, SE), </a:t>
            </a:r>
            <a:r>
              <a:rPr lang="en-US" sz="1800" b="1" dirty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SH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(</a:t>
            </a:r>
            <a:r>
              <a:rPr lang="en-US" sz="1800" b="1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ZH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)</a:t>
            </a:r>
            <a:r>
              <a:rPr lang="en-US" sz="1800" b="1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*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sz="1800" b="1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CH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sz="1800" b="1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J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(GE)	mi</a:t>
            </a:r>
            <a:r>
              <a:rPr lang="en-US" sz="1800" u="sng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ce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bo</a:t>
            </a:r>
            <a:r>
              <a:rPr lang="en-US" sz="1800" u="sng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x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bru</a:t>
            </a:r>
            <a:r>
              <a:rPr lang="en-US" sz="1800" u="sng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sh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cat</a:t>
            </a:r>
            <a:r>
              <a:rPr lang="en-US" sz="1800" u="sng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ch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pa</a:t>
            </a:r>
            <a:r>
              <a:rPr lang="en-US" sz="1800" u="sng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ge</a:t>
            </a:r>
          </a:p>
          <a:p>
            <a:pPr marL="742950" lvl="5" indent="-285750">
              <a:lnSpc>
                <a:spcPct val="150000"/>
              </a:lnSpc>
              <a:buFont typeface="Wingdings" pitchFamily="2" charset="2"/>
              <a:buChar char="Ø"/>
              <a:tabLst>
                <a:tab pos="5949950" algn="l"/>
              </a:tabLst>
            </a:pPr>
            <a:r>
              <a:rPr lang="en-US" sz="18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Between the teeth </a:t>
            </a: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(</a:t>
            </a:r>
            <a:r>
              <a:rPr lang="en-US" sz="1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Âm</a:t>
            </a: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thanh</a:t>
            </a: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lưỡi</a:t>
            </a: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giữa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hai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răng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):</a:t>
            </a:r>
            <a:endParaRPr lang="en-US" sz="1800" b="1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457200" lvl="5" indent="3175">
              <a:lnSpc>
                <a:spcPct val="150000"/>
              </a:lnSpc>
              <a:buNone/>
              <a:tabLst>
                <a:tab pos="5949950" algn="l"/>
              </a:tabLst>
            </a:pPr>
            <a:r>
              <a:rPr lang="en-US" sz="1800" b="1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TH, THE	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brea</a:t>
            </a:r>
            <a:r>
              <a:rPr lang="en-US" sz="1800" u="sng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th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brea</a:t>
            </a:r>
            <a:r>
              <a:rPr lang="en-US" sz="1800" u="sng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the</a:t>
            </a:r>
            <a:endParaRPr lang="en-US" sz="1800" u="sng" dirty="0">
              <a:ln w="12700">
                <a:noFill/>
                <a:prstDash val="solid"/>
              </a:ln>
              <a:solidFill>
                <a:srgbClr val="0070C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SYLLABLES 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40011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  <a:tabLst>
                <a:tab pos="5949950" algn="l"/>
              </a:tabLst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Semi-vowels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(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Bán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nguyên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âm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): </a:t>
            </a:r>
          </a:p>
          <a:p>
            <a:pPr lvl="1">
              <a:lnSpc>
                <a:spcPct val="150000"/>
              </a:lnSpc>
              <a:tabLst>
                <a:tab pos="5949950" algn="l"/>
              </a:tabLst>
            </a:pPr>
            <a:r>
              <a:rPr lang="en-US" b="1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R</a:t>
            </a:r>
            <a:r>
              <a:rPr lang="en-US" b="1" dirty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W, </a:t>
            </a:r>
            <a:r>
              <a:rPr lang="en-US" b="1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Y </a:t>
            </a:r>
            <a:r>
              <a:rPr lang="en-US" b="1" dirty="0" smtClean="0">
                <a:ln w="12700">
                  <a:noFill/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r>
              <a:rPr lang="en-US" u="sng" dirty="0" smtClean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y</a:t>
            </a:r>
            <a:r>
              <a:rPr lang="en-US" dirty="0" smtClean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ear, </a:t>
            </a:r>
            <a:r>
              <a:rPr lang="en-US" u="sng" dirty="0" smtClean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window</a:t>
            </a:r>
            <a:r>
              <a:rPr lang="en-US" dirty="0" smtClean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u="sng" dirty="0" smtClean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r</a:t>
            </a:r>
            <a:r>
              <a:rPr lang="en-US" dirty="0" smtClean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ing</a:t>
            </a:r>
            <a:endParaRPr lang="en-US" b="1" dirty="0" smtClean="0">
              <a:ln w="12700">
                <a:noFill/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637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0"/>
                            </p:stCondLst>
                            <p:childTnLst>
                              <p:par>
                                <p:cTn id="3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500"/>
                            </p:stCondLst>
                            <p:childTnLst>
                              <p:par>
                                <p:cTn id="3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500"/>
                            </p:stCondLst>
                            <p:childTnLst>
                              <p:par>
                                <p:cTn id="4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000"/>
                            </p:stCondLst>
                            <p:childTnLst>
                              <p:par>
                                <p:cTn id="4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CONVERSATION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365760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PRACTICE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118122"/>
              </p:ext>
            </p:extLst>
          </p:nvPr>
        </p:nvGraphicFramePr>
        <p:xfrm>
          <a:off x="0" y="400110"/>
          <a:ext cx="9144000" cy="3257490"/>
        </p:xfrm>
        <a:graphic>
          <a:graphicData uri="http://schemas.openxmlformats.org/drawingml/2006/table">
            <a:tbl>
              <a:tblPr/>
              <a:tblGrid>
                <a:gridCol w="4262044"/>
                <a:gridCol w="2264703"/>
                <a:gridCol w="2617253"/>
              </a:tblGrid>
              <a:tr h="483196"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120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Greeting people</a:t>
                      </a:r>
                      <a:endParaRPr lang="en-US" sz="1000" kern="140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120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Responding</a:t>
                      </a:r>
                      <a:endParaRPr lang="en-US" sz="1000" kern="140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120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Saying goodbye</a:t>
                      </a:r>
                      <a:endParaRPr lang="en-US" sz="1000" kern="140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9646"/>
                    </a:solidFill>
                  </a:tcPr>
                </a:tc>
              </a:tr>
              <a:tr h="2774294">
                <a:tc>
                  <a:txBody>
                    <a:bodyPr/>
                    <a:lstStyle/>
                    <a:p>
                      <a:pPr marR="0" indent="0" algn="l" rtl="0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Good morning 	How are you?</a:t>
                      </a:r>
                      <a:endParaRPr lang="en-US" sz="1800" b="1" kern="140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  <a:p>
                      <a:pPr marR="0" indent="0" algn="l" rtl="0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Good afternoon 	How is everything?</a:t>
                      </a:r>
                      <a:endParaRPr lang="en-US" sz="1800" b="1" kern="140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  <a:p>
                      <a:pPr marR="0" indent="0" algn="l" rtl="0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Good evening 	How are you doing?</a:t>
                      </a:r>
                      <a:endParaRPr lang="en-US" sz="1800" b="1" kern="140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  <a:p>
                      <a:pPr marR="0" indent="0" algn="l" rtl="0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Hello. 		How’s it going?*</a:t>
                      </a:r>
                      <a:endParaRPr lang="en-US" sz="1800" b="1" kern="140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  <a:p>
                      <a:pPr marR="0" indent="0" algn="l" rtl="0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Hi. 		</a:t>
                      </a:r>
                      <a:r>
                        <a:rPr lang="en-US" sz="1800" b="1" kern="120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How </a:t>
                      </a:r>
                      <a:r>
                        <a:rPr lang="en-US" sz="1800" b="1" kern="12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are things?*</a:t>
                      </a:r>
                      <a:endParaRPr lang="en-US" sz="1800" b="1" kern="140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  <a:p>
                      <a:pPr marR="0" indent="0" algn="l" rtl="0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Hey. *</a:t>
                      </a:r>
                      <a:endParaRPr lang="en-US" sz="1800" b="1" kern="140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E3EA"/>
                    </a:solidFill>
                  </a:tcPr>
                </a:tc>
                <a:tc>
                  <a:txBody>
                    <a:bodyPr/>
                    <a:lstStyle/>
                    <a:p>
                      <a:pPr marR="0" indent="0" algn="l" rtl="0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I’m fine, thank you.</a:t>
                      </a:r>
                      <a:endParaRPr lang="en-US" sz="1800" b="1" kern="140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  <a:p>
                      <a:pPr marR="0" indent="0" algn="l" rtl="0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Everything is great.</a:t>
                      </a:r>
                      <a:endParaRPr lang="en-US" sz="1800" b="1" kern="140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  <a:p>
                      <a:pPr marR="0" indent="0" algn="l" rtl="0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4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  <a:endParaRPr lang="en-US" sz="1800" b="1" kern="140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  <a:p>
                      <a:pPr marR="0" indent="0" algn="l" rtl="0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Fine, thanks.*</a:t>
                      </a:r>
                      <a:endParaRPr lang="en-US" sz="1800" b="1" kern="140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  <a:p>
                      <a:pPr marR="0" indent="0" algn="l" rtl="0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I’m all right. *</a:t>
                      </a:r>
                      <a:endParaRPr lang="en-US" sz="1800" b="1" kern="140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  <a:p>
                      <a:pPr marR="0" indent="0" algn="l" rtl="0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so well.*</a:t>
                      </a:r>
                      <a:endParaRPr lang="en-US" sz="1800" b="1" kern="140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E3EA"/>
                    </a:solidFill>
                  </a:tcPr>
                </a:tc>
                <a:tc>
                  <a:txBody>
                    <a:bodyPr/>
                    <a:lstStyle/>
                    <a:p>
                      <a:pPr marR="0" indent="0" algn="l" rtl="0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Goodbye.</a:t>
                      </a:r>
                      <a:endParaRPr lang="en-US" sz="1800" b="1" kern="140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  <a:p>
                      <a:pPr marR="0" indent="0" algn="l" rtl="0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Have a nice day.</a:t>
                      </a:r>
                      <a:endParaRPr lang="en-US" sz="1800" b="1" kern="140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  <a:p>
                      <a:pPr marR="0" indent="0" algn="l" rtl="0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Good night.</a:t>
                      </a:r>
                      <a:endParaRPr lang="en-US" sz="1800" b="1" kern="140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  <a:p>
                      <a:pPr marR="0" indent="0" algn="l" rtl="0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4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  <a:endParaRPr lang="en-US" sz="1800" b="1" kern="140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  <a:p>
                      <a:pPr marR="0" indent="0" algn="l" rtl="0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See you.*</a:t>
                      </a:r>
                      <a:endParaRPr lang="en-US" sz="1800" b="1" kern="140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  <a:p>
                      <a:pPr marR="0" indent="0" algn="l" rtl="0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Take care.*</a:t>
                      </a:r>
                      <a:endParaRPr lang="en-US" sz="1800" b="1" kern="140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E3EA"/>
                    </a:solidFill>
                  </a:tcPr>
                </a:tc>
              </a:tr>
            </a:tbl>
          </a:graphicData>
        </a:graphic>
      </p:graphicFrame>
      <p:sp>
        <p:nvSpPr>
          <p:cNvPr id="6" name="Control 1"/>
          <p:cNvSpPr>
            <a:spLocks noChangeArrowheads="1" noChangeShapeType="1"/>
          </p:cNvSpPr>
          <p:nvPr/>
        </p:nvSpPr>
        <p:spPr bwMode="auto">
          <a:xfrm>
            <a:off x="1897063" y="6838950"/>
            <a:ext cx="6645275" cy="1827213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512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CONVERSATION </a:t>
            </a:r>
            <a:r>
              <a:rPr lang="en-US" sz="2000" b="1" i="1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– HOW ARE YOU?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0" y="4724400"/>
            <a:ext cx="9144000" cy="400110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1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HOMEWORK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-9099" y="53340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NO HOMEWORK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70877"/>
            <a:ext cx="9144000" cy="17543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>
                <a:latin typeface="Tahoma" pitchFamily="34" charset="0"/>
                <a:ea typeface="Tahoma" pitchFamily="34" charset="0"/>
                <a:cs typeface="Tahoma" pitchFamily="34" charset="0"/>
              </a:rPr>
              <a:t>A: Hi Anna,  how’s it going?</a:t>
            </a:r>
          </a:p>
          <a:p>
            <a:r>
              <a:rPr lang="en-US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B: Fine, thanks. How are things, Tommy?</a:t>
            </a:r>
          </a:p>
          <a:p>
            <a:r>
              <a:rPr lang="en-US">
                <a:latin typeface="Tahoma" pitchFamily="34" charset="0"/>
                <a:ea typeface="Tahoma" pitchFamily="34" charset="0"/>
                <a:cs typeface="Tahoma" pitchFamily="34" charset="0"/>
              </a:rPr>
              <a:t>A: Pretty good, thanks. </a:t>
            </a:r>
          </a:p>
          <a:p>
            <a:r>
              <a:rPr lang="en-US">
                <a:latin typeface="Tahoma" pitchFamily="34" charset="0"/>
                <a:ea typeface="Tahoma" pitchFamily="34" charset="0"/>
                <a:cs typeface="Tahoma" pitchFamily="34" charset="0"/>
              </a:rPr>
              <a:t>…..</a:t>
            </a:r>
          </a:p>
          <a:p>
            <a:r>
              <a:rPr lang="en-US">
                <a:latin typeface="Tahoma" pitchFamily="34" charset="0"/>
                <a:ea typeface="Tahoma" pitchFamily="34" charset="0"/>
                <a:cs typeface="Tahoma" pitchFamily="34" charset="0"/>
              </a:rPr>
              <a:t>A: Have a nice day, Anna. </a:t>
            </a:r>
          </a:p>
          <a:p>
            <a:r>
              <a:rPr lang="en-US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B: Take care, Tommy. </a:t>
            </a:r>
          </a:p>
        </p:txBody>
      </p:sp>
      <p:pic>
        <p:nvPicPr>
          <p:cNvPr id="3074" name="Picture 2" descr="three-people-talk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5953" y="2362200"/>
            <a:ext cx="3552093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</TotalTime>
  <Words>174</Words>
  <Application>Microsoft Office PowerPoint</Application>
  <PresentationFormat>On-screen Show (4:3)</PresentationFormat>
  <Paragraphs>97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UNIT 1B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KHAI GIẢNG LỚP QR1 AMERICAN ACCENT TRAINING</dc:title>
  <dc:creator>Mister Nice Guy</dc:creator>
  <cp:lastModifiedBy>TuanTran-PC</cp:lastModifiedBy>
  <cp:revision>140</cp:revision>
  <dcterms:created xsi:type="dcterms:W3CDTF">2009-01-07T10:42:31Z</dcterms:created>
  <dcterms:modified xsi:type="dcterms:W3CDTF">2017-07-08T11:03:33Z</dcterms:modified>
</cp:coreProperties>
</file>