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63" r:id="rId3"/>
    <p:sldId id="265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6E55F-2298-44C2-A0D7-358109010C60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57E97-EC72-4493-8451-98DB90CF7D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7B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HOW DO YOU SAY THIS WORD IN ENGLISH?</a:t>
            </a:r>
            <a:endParaRPr lang="en-US" sz="60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3"/>
          <a:stretch/>
        </p:blipFill>
        <p:spPr>
          <a:xfrm>
            <a:off x="3124200" y="32534"/>
            <a:ext cx="2895600" cy="231350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CONVERSATION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420812" y="2961283"/>
            <a:ext cx="6553200" cy="2322450"/>
          </a:xfrm>
          <a:prstGeom prst="rect">
            <a:avLst/>
          </a:prstGeom>
          <a:noFill/>
          <a:ln w="9525" algn="in">
            <a:solidFill>
              <a:srgbClr val="00B05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A: Excuse me! How do you say this word in English?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B: Oh, “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MUSIC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A: What does it mean?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B: It means “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ÂM NHẠC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”.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A: I see. By the way, do you like to listen to music?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B: Yes, I like to listen to music.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45"/>
          <a:stretch>
            <a:fillRect/>
          </a:stretch>
        </p:blipFill>
        <p:spPr bwMode="auto">
          <a:xfrm>
            <a:off x="1295400" y="409637"/>
            <a:ext cx="6804025" cy="237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3792537" y="442974"/>
            <a:ext cx="995363" cy="479425"/>
          </a:xfrm>
          <a:prstGeom prst="wedgeEllipseCallout">
            <a:avLst>
              <a:gd name="adj1" fmla="val -34718"/>
              <a:gd name="adj2" fmla="val 83606"/>
            </a:avLst>
          </a:prstGeom>
          <a:solidFill>
            <a:srgbClr val="FFFFFF"/>
          </a:solidFill>
          <a:ln w="12700" algn="ctr">
            <a:solidFill>
              <a:srgbClr val="006699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MUSIC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1341437" y="614424"/>
            <a:ext cx="1911350" cy="512763"/>
          </a:xfrm>
          <a:prstGeom prst="wedgeRoundRectCallout">
            <a:avLst>
              <a:gd name="adj1" fmla="val -5894"/>
              <a:gd name="adj2" fmla="val 63333"/>
              <a:gd name="adj3" fmla="val 16667"/>
            </a:avLst>
          </a:prstGeom>
          <a:solidFill>
            <a:srgbClr val="FFFFFF"/>
          </a:solidFill>
          <a:ln w="12700" algn="ctr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How do you say this word in English?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643437" y="614424"/>
            <a:ext cx="1909763" cy="622300"/>
          </a:xfrm>
          <a:prstGeom prst="wedgeRoundRectCallout">
            <a:avLst>
              <a:gd name="adj1" fmla="val 2319"/>
              <a:gd name="adj2" fmla="val 70880"/>
              <a:gd name="adj3" fmla="val 16667"/>
            </a:avLst>
          </a:prstGeom>
          <a:solidFill>
            <a:srgbClr val="FFFFFF"/>
          </a:solidFill>
          <a:ln w="12700" algn="ctr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 you like to listen to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music?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7018337" y="333437"/>
            <a:ext cx="1182688" cy="704850"/>
          </a:xfrm>
          <a:prstGeom prst="wedgeEllipseCallout">
            <a:avLst>
              <a:gd name="adj1" fmla="val -29634"/>
              <a:gd name="adj2" fmla="val 66083"/>
            </a:avLst>
          </a:prstGeom>
          <a:solidFill>
            <a:srgbClr val="FFFFFF"/>
          </a:solidFill>
          <a:ln w="12700" algn="ctr">
            <a:solidFill>
              <a:srgbClr val="006699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Of course, I like to ...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15403">
            <a:off x="7564806" y="5673662"/>
            <a:ext cx="1144588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181" y="5245037"/>
            <a:ext cx="4805363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92259">
            <a:off x="672601" y="5681599"/>
            <a:ext cx="1276350" cy="89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609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PAIR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" y="361638"/>
            <a:ext cx="91440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 you want to listen to music? 		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Do you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like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to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watch TV? 	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Yes,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I want to listen to music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		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No,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I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don’t like to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watch TV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228600" y="1171796"/>
          <a:ext cx="4038601" cy="4212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219200"/>
                <a:gridCol w="2819401"/>
              </a:tblGrid>
              <a:tr h="324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 to …/ Like to …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listen to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the radio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draw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flowers, animals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watch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movie, a play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make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cakes, toys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show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</a:t>
                      </a:r>
                      <a:r>
                        <a:rPr lang="en-US" sz="15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photos, your videos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conduct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a class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observe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stars, the moon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bicycle, a car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pass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TOEIC, the TOEFL 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fan, the light</a:t>
                      </a: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cigar, a cigarette</a:t>
                      </a: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play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guitar, the piano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4419600" y="1171796"/>
          <a:ext cx="4495800" cy="4212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371600"/>
                <a:gridCol w="3124200"/>
              </a:tblGrid>
              <a:tr h="324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 to … / Need to …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store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meat, rice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submit 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homework, a report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do 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housework, homework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vowels, the consonants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lunch, dinner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floor, the fan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windows, the dishes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cat, the dog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scarf, gloves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cover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book, the notebook 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understand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grammar, vocabulary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bag, a map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28600" y="5486400"/>
          <a:ext cx="40386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19200"/>
                <a:gridCol w="28194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cigarette, a cigar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</a:t>
                      </a:r>
                      <a:r>
                        <a:rPr lang="en-US" sz="16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breakfast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hat, a scarf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build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houses, bridges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419600" y="5486400"/>
          <a:ext cx="44958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71600"/>
                <a:gridCol w="31242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letter, a contract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catch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bus, a taxi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unlock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gate, the suitcase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serve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coffee, tea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9109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301</Words>
  <Application>Microsoft Office PowerPoint</Application>
  <PresentationFormat>On-screen Show (4:3)</PresentationFormat>
  <Paragraphs>83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Tahoma</vt:lpstr>
      <vt:lpstr>Times New Roman</vt:lpstr>
      <vt:lpstr>Office Theme</vt:lpstr>
      <vt:lpstr>UNIT 7B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VINCENT</cp:lastModifiedBy>
  <cp:revision>124</cp:revision>
  <dcterms:created xsi:type="dcterms:W3CDTF">2008-12-29T06:41:19Z</dcterms:created>
  <dcterms:modified xsi:type="dcterms:W3CDTF">2017-07-08T10:18:20Z</dcterms:modified>
</cp:coreProperties>
</file>