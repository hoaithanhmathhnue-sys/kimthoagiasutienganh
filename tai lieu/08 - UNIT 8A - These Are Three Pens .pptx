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63" r:id="rId3"/>
    <p:sldId id="256" r:id="rId4"/>
    <p:sldId id="257" r:id="rId5"/>
    <p:sldId id="264" r:id="rId6"/>
    <p:sldId id="265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956" y="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6E55F-2298-44C2-A0D7-358109010C60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57E97-EC72-4493-8451-98DB90CF7D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257E97-EC72-4493-8451-98DB90CF7D5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313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jpeg"/><Relationship Id="rId18" Type="http://schemas.openxmlformats.org/officeDocument/2006/relationships/image" Target="../media/image21.jpeg"/><Relationship Id="rId3" Type="http://schemas.openxmlformats.org/officeDocument/2006/relationships/image" Target="../media/image6.jpeg"/><Relationship Id="rId21" Type="http://schemas.openxmlformats.org/officeDocument/2006/relationships/image" Target="../media/image24.jpeg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17" Type="http://schemas.openxmlformats.org/officeDocument/2006/relationships/image" Target="../media/image20.jpeg"/><Relationship Id="rId2" Type="http://schemas.openxmlformats.org/officeDocument/2006/relationships/image" Target="../media/image5.jpeg"/><Relationship Id="rId16" Type="http://schemas.openxmlformats.org/officeDocument/2006/relationships/image" Target="../media/image19.jpeg"/><Relationship Id="rId20" Type="http://schemas.openxmlformats.org/officeDocument/2006/relationships/image" Target="../media/image2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5" Type="http://schemas.openxmlformats.org/officeDocument/2006/relationships/image" Target="../media/image18.jpeg"/><Relationship Id="rId23" Type="http://schemas.openxmlformats.org/officeDocument/2006/relationships/image" Target="../media/image26.jpeg"/><Relationship Id="rId10" Type="http://schemas.openxmlformats.org/officeDocument/2006/relationships/image" Target="../media/image13.jpeg"/><Relationship Id="rId19" Type="http://schemas.openxmlformats.org/officeDocument/2006/relationships/image" Target="../media/image22.jpeg"/><Relationship Id="rId4" Type="http://schemas.openxmlformats.org/officeDocument/2006/relationships/image" Target="../media/image7.jpe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504126"/>
            <a:ext cx="4267200" cy="1139826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600" b="1" spc="50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</a:t>
            </a:r>
            <a:r>
              <a:rPr lang="en-US" sz="6600" b="1" spc="50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8A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643952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6000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THESE/ THOSE ARE </a:t>
            </a:r>
            <a:r>
              <a:rPr lang="en-US" sz="6000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SCHOOL</a:t>
            </a:r>
            <a:endParaRPr lang="en-US" sz="60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3"/>
          <a:stretch/>
        </p:blipFill>
        <p:spPr>
          <a:xfrm>
            <a:off x="3124200" y="32534"/>
            <a:ext cx="2895600" cy="231350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PRONUNCIATION – CONFUSING </a:t>
            </a:r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CONSONANT SOUNDS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76400" y="12192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sz="36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/f/ 				/p</a:t>
            </a:r>
            <a:r>
              <a:rPr lang="en-US" sz="36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fast 				past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foot 				put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fork 				pork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fan 				pan 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51609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NUMBER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5" name="Picture 2" descr="numeros-en-ingles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914400"/>
            <a:ext cx="8305800" cy="5342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CONVERSATION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1378209"/>
            <a:ext cx="4572000" cy="20597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kern="1400" dirty="0" smtClean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A: What are these?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kern="1400" dirty="0" smtClean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B: These are 5 apples. 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kern="1400" dirty="0" smtClean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A: And what are those?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kern="1400" dirty="0" smtClean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B: Those are 3 tomatoes. </a:t>
            </a:r>
          </a:p>
          <a:p>
            <a:pPr>
              <a:lnSpc>
                <a:spcPct val="113000"/>
              </a:lnSpc>
              <a:spcAft>
                <a:spcPts val="900"/>
              </a:spcAft>
            </a:pPr>
            <a:endParaRPr lang="en-US" sz="1100" kern="140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2050" name="Picture 2" descr="4557e40f1376ef0af4d4319f5d57e3b9_lar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81"/>
          <a:stretch/>
        </p:blipFill>
        <p:spPr bwMode="auto">
          <a:xfrm>
            <a:off x="4224446" y="2628878"/>
            <a:ext cx="4896363" cy="154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2051" name="Picture 3" descr="3TomatoesTriang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684155"/>
            <a:ext cx="2685960" cy="1754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202645"/>
              </p:ext>
            </p:extLst>
          </p:nvPr>
        </p:nvGraphicFramePr>
        <p:xfrm>
          <a:off x="19050" y="444869"/>
          <a:ext cx="9124950" cy="639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4990"/>
                <a:gridCol w="1824990"/>
                <a:gridCol w="1824990"/>
                <a:gridCol w="1824990"/>
                <a:gridCol w="1824990"/>
              </a:tblGrid>
              <a:tr h="15976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1597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97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97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-4182" y="24118"/>
            <a:ext cx="9148182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Control 3"/>
          <p:cNvSpPr>
            <a:spLocks noChangeArrowheads="1" noChangeShapeType="1"/>
          </p:cNvSpPr>
          <p:nvPr/>
        </p:nvSpPr>
        <p:spPr bwMode="auto">
          <a:xfrm>
            <a:off x="533400" y="180976"/>
            <a:ext cx="6242050" cy="8353424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6" name="Picture 16" descr="Description: JFOOD056_resiz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0" y="741363"/>
            <a:ext cx="298390" cy="1018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7" name="Picture 16" descr="Description: JFOOD056_resiz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506413"/>
            <a:ext cx="298390" cy="1018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8" name="Picture 13" descr="Description: ice-cream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57200"/>
            <a:ext cx="357164" cy="1018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9" name="Picture 7" descr="5209929266_63fee05659_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79" y="2136166"/>
            <a:ext cx="1359334" cy="144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80" name="Picture 8" descr="bananas-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168" y="650876"/>
            <a:ext cx="1173970" cy="967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81" name="Picture 9" descr="tải xuố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33" y="677863"/>
            <a:ext cx="1401530" cy="932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82" name="Picture 13" descr="Description: ice-cream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6586" y="904875"/>
            <a:ext cx="357165" cy="1017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83" name="Picture 13" descr="Description: ice-cream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825" y="457200"/>
            <a:ext cx="357164" cy="1018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84" name="Picture 12" descr="tomato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665" y="2386014"/>
            <a:ext cx="602809" cy="702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85" name="Picture 13" descr="football-157930_960_72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30" y="2117706"/>
            <a:ext cx="623907" cy="623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86" name="Picture 14" descr="football-157930_960_72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704" y="2166919"/>
            <a:ext cx="548557" cy="54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87" name="Picture 15" descr="football-157930_960_72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118" y="2881293"/>
            <a:ext cx="623907" cy="623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88" name="Picture 16" descr="football-157930_960_72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200" y="2827318"/>
            <a:ext cx="622400" cy="623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89" name="Picture 17" descr="football-157930_960_72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30" y="2460606"/>
            <a:ext cx="623907" cy="623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90" name="Picture 18" descr="tomato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009" y="2119314"/>
            <a:ext cx="614865" cy="71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91" name="Picture 19" descr="4557e40f1376ef0af4d4319f5d57e3b9_large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63"/>
          <a:stretch>
            <a:fillRect/>
          </a:stretch>
        </p:blipFill>
        <p:spPr bwMode="auto">
          <a:xfrm rot="-2631206">
            <a:off x="3727414" y="2580752"/>
            <a:ext cx="1724035" cy="515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92" name="Picture 2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70" y="3738563"/>
            <a:ext cx="937368" cy="700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93" name="Picture 2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13" y="4446588"/>
            <a:ext cx="938875" cy="699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94" name="Picture 22" descr="1483_3160_z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1" r="10368"/>
          <a:stretch>
            <a:fillRect/>
          </a:stretch>
        </p:blipFill>
        <p:spPr bwMode="auto">
          <a:xfrm>
            <a:off x="2006627" y="3856038"/>
            <a:ext cx="1338236" cy="135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95" name="Picture 23" descr="Screen Shot 2013-06-06 at 5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823" y="3987801"/>
            <a:ext cx="1540177" cy="827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96" name="Picture 24" descr="g26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106" y="5562600"/>
            <a:ext cx="1415094" cy="1069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97" name="Picture 25" descr="Shirred-Skirt-DIY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690" y="3771901"/>
            <a:ext cx="1482910" cy="99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98" name="Picture 26" descr="j357i1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604043"/>
            <a:ext cx="1464825" cy="794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099" name="Picture 27" descr="img-thing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1" b="1851"/>
          <a:stretch>
            <a:fillRect/>
          </a:stretch>
        </p:blipFill>
        <p:spPr bwMode="auto">
          <a:xfrm>
            <a:off x="5806480" y="5410200"/>
            <a:ext cx="1356320" cy="1305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100" name="Picture 28" descr="17368271-Flower-theme-image-5-vector-illustration-Stock-Vector-flower-flowers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59" y="5665789"/>
            <a:ext cx="1446741" cy="773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101" name="Picture 29" descr="bc9f1961-76b9-4be1-b1ea-c59dc3e937ad_1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5410200"/>
            <a:ext cx="1280969" cy="1280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102" name="Picture 30" descr="image-UNIQUE_13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133" y="3856038"/>
            <a:ext cx="1302067" cy="1302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103" name="Picture 31" descr="tải xuống (1)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893" y="2271713"/>
            <a:ext cx="1246307" cy="79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104" name="Picture 32" descr="2dolls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5638800"/>
            <a:ext cx="1540176" cy="1059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0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0110"/>
            <a:ext cx="9144000" cy="142869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Noun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(Danh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tư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̀):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tiếng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chỉ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tên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một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người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một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vật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hay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một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đô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̀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vật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b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Example (Ví dụ): a man, a dog, a table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Plural form of a noun 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Sô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́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nhiều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của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danh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tư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̀):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 smtClean="0">
              <a:ln w="10160">
                <a:noFill/>
                <a:prstDash val="solid"/>
              </a:ln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GRAMMAR REVIEW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1899309"/>
            <a:ext cx="9144000" cy="4304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15000"/>
              </a:lnSpc>
              <a:buFont typeface="+mj-lt"/>
              <a:buAutoNum type="arabicPeriod"/>
            </a:pP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êm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a book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books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pen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pens</a:t>
            </a:r>
          </a:p>
          <a:p>
            <a:pPr lvl="1">
              <a:lnSpc>
                <a:spcPct val="115000"/>
              </a:lnSpc>
              <a:buFont typeface="+mj-lt"/>
              <a:buAutoNum type="arabicPeriod" startAt="2"/>
            </a:pP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(E)S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đọc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iz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sau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những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tận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cùng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S, X, CE, SE, Z, CH, SH, GE.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box   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boxes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an orange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oranges</a:t>
            </a:r>
          </a:p>
          <a:p>
            <a:pPr lvl="1">
              <a:lnSpc>
                <a:spcPct val="115000"/>
              </a:lnSpc>
              <a:buFont typeface="+mj-lt"/>
              <a:buAutoNum type="arabicPeriod" startAt="3"/>
            </a:pP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Theâm ES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 t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ừ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ận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ùng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ừ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 âm)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tomato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tomatoes</a:t>
            </a:r>
          </a:p>
          <a:p>
            <a:pPr lvl="1"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Nhưng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a radio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radios (vì 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âm I)</a:t>
            </a:r>
          </a:p>
          <a:p>
            <a:pPr lvl="1">
              <a:lnSpc>
                <a:spcPct val="115000"/>
              </a:lnSpc>
              <a:buFont typeface="+mj-lt"/>
              <a:buAutoNum type="arabicPeriod" startAt="4"/>
            </a:pP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IES (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Trừ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âm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vi-VN" sz="1700" b="1" i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city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cities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ưng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a toy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toys (vì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rước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 âm O)</a:t>
            </a:r>
          </a:p>
          <a:p>
            <a:pPr lvl="1">
              <a:lnSpc>
                <a:spcPct val="115000"/>
              </a:lnSpc>
              <a:buFont typeface="+mj-lt"/>
              <a:buAutoNum type="arabicPeriod" startAt="5"/>
            </a:pP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FE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ành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VES </a:t>
            </a:r>
            <a:r>
              <a:rPr lang="vi-VN" sz="17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knife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knives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leaf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leaves</a:t>
            </a:r>
            <a:endParaRPr lang="vi-VN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02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22098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Jack:	Hi. My name is Jack. What’s </a:t>
            </a:r>
            <a:r>
              <a:rPr lang="en-US" sz="18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t>your name?</a:t>
            </a:r>
            <a:r>
              <a:rPr lang="en-US" sz="1800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Kate:	I’m Kate. 		</a:t>
            </a:r>
            <a:r>
              <a:rPr lang="en-US" sz="1800" b="1" i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Jack:	It’s nice to meet you, Kate. </a:t>
            </a:r>
            <a:r>
              <a:rPr lang="en-US" sz="1800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Kate</a:t>
            </a:r>
            <a:r>
              <a:rPr lang="en-US" sz="1800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	</a:t>
            </a: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Nice to meet you, too. </a:t>
            </a:r>
            <a:r>
              <a:rPr lang="en-US" sz="1800" i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CONVERSATION – NICE TO MEET YOU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3987197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0" y="46482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Cheùp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taát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caû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caùc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danh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töø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trong</a:t>
            </a:r>
            <a:r>
              <a:rPr lang="en-US" sz="1800" dirty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phaàn</a:t>
            </a:r>
            <a:r>
              <a:rPr lang="en-US" sz="180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vocabulary,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moãi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chöõ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2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doøng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vaøo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vôû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baøi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taäp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B.</a:t>
            </a:r>
          </a:p>
          <a:p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Vieát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moät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doøng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soá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ít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vaø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moät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doøng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soá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nhieàu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762000"/>
            <a:ext cx="2438400" cy="30445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8" grpId="0" animBg="1"/>
      <p:bldP spid="7" grpId="0" animBg="1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106</Words>
  <Application>Microsoft Office PowerPoint</Application>
  <PresentationFormat>On-screen Show (4:3)</PresentationFormat>
  <Paragraphs>60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Tahoma</vt:lpstr>
      <vt:lpstr>Times New Roman</vt:lpstr>
      <vt:lpstr>VNI-Aptima</vt:lpstr>
      <vt:lpstr>Wingdings</vt:lpstr>
      <vt:lpstr>Office Theme</vt:lpstr>
      <vt:lpstr>UNIT 8A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VINCENT</cp:lastModifiedBy>
  <cp:revision>125</cp:revision>
  <dcterms:created xsi:type="dcterms:W3CDTF">2008-12-29T06:41:19Z</dcterms:created>
  <dcterms:modified xsi:type="dcterms:W3CDTF">2017-07-08T09:52:37Z</dcterms:modified>
</cp:coreProperties>
</file>